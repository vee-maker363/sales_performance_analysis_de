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rts/chart1.xml" ContentType="application/vnd.openxmlformats-officedocument.drawingml.chart+xml"/>
  <Override PartName="/ppt/notesSlides/notesSlide5.xml" ContentType="application/vnd.openxmlformats-officedocument.presentationml.notesSlide+xml"/>
  <Override PartName="/ppt/charts/chart2.xml" ContentType="application/vnd.openxmlformats-officedocument.drawingml.chart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rts/chart3.xml" ContentType="application/vnd.openxmlformats-officedocument.drawingml.chart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charts/chart4.xml" ContentType="application/vnd.openxmlformats-officedocument.drawingml.chart+xml"/>
  <Override PartName="/ppt/notesSlides/notesSlide10.xml" ContentType="application/vnd.openxmlformats-officedocument.presentationml.notesSlide+xml"/>
  <Override PartName="/ppt/charts/chart5.xml" ContentType="application/vnd.openxmlformats-officedocument.drawingml.chart+xml"/>
  <Override PartName="/ppt/notesSlides/notesSlide11.xml" ContentType="application/vnd.openxmlformats-officedocument.presentationml.notesSlide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notesSlides/notesSlide12.xml" ContentType="application/vnd.openxmlformats-officedocument.presentationml.notesSlide+xml"/>
  <Override PartName="/ppt/charts/chart8.xml" ContentType="application/vnd.openxmlformats-officedocument.drawingml.chart+xml"/>
  <Override PartName="/ppt/notesSlides/notesSlide13.xml" ContentType="application/vnd.openxmlformats-officedocument.presentationml.notesSlide+xml"/>
  <Override PartName="/ppt/charts/chart9.xml" ContentType="application/vnd.openxmlformats-officedocument.drawingml.chart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1" r:id="rId16"/>
    <p:sldId id="270" r:id="rId1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0" d="100"/>
          <a:sy n="80" d="100"/>
        </p:scale>
        <p:origin x="922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7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_rels/chart8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_rels/chart9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8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Total Revenue</c:v>
                </c:pt>
              </c:strCache>
            </c:strRef>
          </c:tx>
          <c:spPr>
            <a:solidFill>
              <a:srgbClr val="1C7293"/>
            </a:solidFill>
            <a:effectLst/>
          </c:spPr>
          <c:invertIfNegative val="0"/>
          <c:cat>
            <c:strRef>
              <c:f>Sheet1!$A$2:$A$8</c:f>
              <c:strCache>
                <c:ptCount val="7"/>
                <c:pt idx="0">
                  <c:v>Sub-Saharan Africa</c:v>
                </c:pt>
                <c:pt idx="1">
                  <c:v>Europe</c:v>
                </c:pt>
                <c:pt idx="2">
                  <c:v>Asia</c:v>
                </c:pt>
                <c:pt idx="3">
                  <c:v>Australia &amp; Oceania</c:v>
                </c:pt>
                <c:pt idx="4">
                  <c:v>Middle East &amp; N. Africa</c:v>
                </c:pt>
                <c:pt idx="5">
                  <c:v>Central America &amp; Carib.</c:v>
                </c:pt>
                <c:pt idx="6">
                  <c:v>North America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39672031.43</c:v>
                </c:pt>
                <c:pt idx="1">
                  <c:v>33368932.109999999</c:v>
                </c:pt>
                <c:pt idx="2">
                  <c:v>21347091.02</c:v>
                </c:pt>
                <c:pt idx="3">
                  <c:v>14094265.130000001</c:v>
                </c:pt>
                <c:pt idx="4">
                  <c:v>14052706.58</c:v>
                </c:pt>
                <c:pt idx="5">
                  <c:v>9170385.4900000002</c:v>
                </c:pt>
                <c:pt idx="6">
                  <c:v>5643356.5499999998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73E7-40C6-8DB0-3D61DC2779E5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Total Profit</c:v>
                </c:pt>
              </c:strCache>
            </c:strRef>
          </c:tx>
          <c:spPr>
            <a:solidFill>
              <a:srgbClr val="F2A541"/>
            </a:solidFill>
            <a:effectLst/>
          </c:spPr>
          <c:invertIfNegative val="0"/>
          <c:cat>
            <c:strRef>
              <c:f>Sheet1!$A$2:$A$8</c:f>
              <c:strCache>
                <c:ptCount val="7"/>
                <c:pt idx="0">
                  <c:v>Sub-Saharan Africa</c:v>
                </c:pt>
                <c:pt idx="1">
                  <c:v>Europe</c:v>
                </c:pt>
                <c:pt idx="2">
                  <c:v>Asia</c:v>
                </c:pt>
                <c:pt idx="3">
                  <c:v>Australia &amp; Oceania</c:v>
                </c:pt>
                <c:pt idx="4">
                  <c:v>Middle East &amp; N. Africa</c:v>
                </c:pt>
                <c:pt idx="5">
                  <c:v>Central America &amp; Carib.</c:v>
                </c:pt>
                <c:pt idx="6">
                  <c:v>North America</c:v>
                </c:pt>
              </c:strCache>
            </c:strRef>
          </c:cat>
          <c:val>
            <c:numRef>
              <c:f>Sheet1!$C$2:$C$8</c:f>
              <c:numCache>
                <c:formatCode>General</c:formatCode>
                <c:ptCount val="7"/>
                <c:pt idx="0">
                  <c:v>12183211.4</c:v>
                </c:pt>
                <c:pt idx="1">
                  <c:v>11082938.630000001</c:v>
                </c:pt>
                <c:pt idx="2">
                  <c:v>6113845.8700000001</c:v>
                </c:pt>
                <c:pt idx="3">
                  <c:v>4722160.03</c:v>
                </c:pt>
                <c:pt idx="4">
                  <c:v>5761191.8600000003</c:v>
                </c:pt>
                <c:pt idx="5">
                  <c:v>2846907.85</c:v>
                </c:pt>
                <c:pt idx="6">
                  <c:v>1457942.76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73E7-40C6-8DB0-3D61DC2779E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35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50" b="0" i="0" u="none" strike="noStrike">
                <a:solidFill>
                  <a:srgbClr val="1B2B34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9525" cap="flat">
              <a:solidFill>
                <a:srgbClr val="E3E9EC"/>
              </a:solidFill>
              <a:prstDash val="solid"/>
              <a:round/>
            </a:ln>
          </c:spPr>
        </c:majorGridlines>
        <c:numFmt formatCode="\$#,##0,,&quot;M&quot;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B6B76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1B2B34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Total Revenue</c:v>
                </c:pt>
              </c:strCache>
            </c:strRef>
          </c:tx>
          <c:spPr>
            <a:solidFill>
              <a:srgbClr val="1C7293"/>
            </a:solidFill>
            <a:effectLst/>
          </c:spPr>
          <c:invertIfNegative val="0"/>
          <c:dLbls>
            <c:numFmt formatCode="\$#,##0,,&quot;M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0B3350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Sheet1!$A$2:$A$9</c:f>
              <c:strCache>
                <c:ptCount val="8"/>
                <c:pt idx="0">
                  <c:v>2010</c:v>
                </c:pt>
                <c:pt idx="1">
                  <c:v>2011</c:v>
                </c:pt>
                <c:pt idx="2">
                  <c:v>2012</c:v>
                </c:pt>
                <c:pt idx="3">
                  <c:v>2013</c:v>
                </c:pt>
                <c:pt idx="4">
                  <c:v>2014</c:v>
                </c:pt>
                <c:pt idx="5">
                  <c:v>2015</c:v>
                </c:pt>
                <c:pt idx="6">
                  <c:v>2016</c:v>
                </c:pt>
                <c:pt idx="7">
                  <c:v>2017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19186024.920000002</c:v>
                </c:pt>
                <c:pt idx="1">
                  <c:v>11129166.07</c:v>
                </c:pt>
                <c:pt idx="2">
                  <c:v>31898644.52</c:v>
                </c:pt>
                <c:pt idx="3">
                  <c:v>20330448.66</c:v>
                </c:pt>
                <c:pt idx="4">
                  <c:v>16630214.43</c:v>
                </c:pt>
                <c:pt idx="5">
                  <c:v>12427982.859999999</c:v>
                </c:pt>
                <c:pt idx="6">
                  <c:v>12372867.220000001</c:v>
                </c:pt>
                <c:pt idx="7">
                  <c:v>13373419.630000001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A4BD-49A7-BB73-78C261AA7377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50" b="0" i="0" u="none" strike="noStrike">
                <a:solidFill>
                  <a:srgbClr val="1B2B34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36000000"/>
        </c:scaling>
        <c:delete val="0"/>
        <c:axPos val="l"/>
        <c:majorGridlines>
          <c:spPr>
            <a:ln w="9525" cap="flat">
              <a:solidFill>
                <a:srgbClr val="E3E9EC"/>
              </a:solidFill>
              <a:prstDash val="solid"/>
              <a:round/>
            </a:ln>
          </c:spPr>
        </c:majorGridlines>
        <c:numFmt formatCode="\$#,##0,,&quot;M&quot;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B6B76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Contribution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1C7293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4485-4CBE-AD49-C464F3270492}"/>
              </c:ext>
            </c:extLst>
          </c:dPt>
          <c:dPt>
            <c:idx val="1"/>
            <c:bubble3D val="0"/>
            <c:spPr>
              <a:solidFill>
                <a:srgbClr val="F2A541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4485-4CBE-AD49-C464F3270492}"/>
              </c:ext>
            </c:extLst>
          </c:dPt>
          <c:dPt>
            <c:idx val="2"/>
            <c:bubble3D val="0"/>
            <c:spPr>
              <a:solidFill>
                <a:srgbClr val="12456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4485-4CBE-AD49-C464F3270492}"/>
              </c:ext>
            </c:extLst>
          </c:dPt>
          <c:dPt>
            <c:idx val="3"/>
            <c:bubble3D val="0"/>
            <c:spPr>
              <a:solidFill>
                <a:srgbClr val="6FAF9E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4485-4CBE-AD49-C464F3270492}"/>
              </c:ext>
            </c:extLst>
          </c:dPt>
          <c:dPt>
            <c:idx val="4"/>
            <c:bubble3D val="0"/>
            <c:spPr>
              <a:solidFill>
                <a:srgbClr val="E8B36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4485-4CBE-AD49-C464F3270492}"/>
              </c:ext>
            </c:extLst>
          </c:dPt>
          <c:dPt>
            <c:idx val="5"/>
            <c:bubble3D val="0"/>
            <c:spPr>
              <a:solidFill>
                <a:srgbClr val="8FA6B2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B-4485-4CBE-AD49-C464F3270492}"/>
              </c:ext>
            </c:extLst>
          </c:dPt>
          <c:dPt>
            <c:idx val="6"/>
            <c:bubble3D val="0"/>
            <c:spPr>
              <a:solidFill>
                <a:srgbClr val="3E5C6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D-4485-4CBE-AD49-C464F3270492}"/>
              </c:ext>
            </c:extLst>
          </c:dPt>
          <c:dLbls>
            <c:dLbl>
              <c:idx val="0"/>
              <c:numFmt formatCode="0.0%" sourceLinked="0"/>
              <c:spPr/>
              <c:txPr>
                <a:bodyPr/>
                <a:lstStyle/>
                <a:p>
                  <a:pPr>
                    <a:defRPr sz="105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4485-4CBE-AD49-C464F3270492}"/>
                </c:ext>
              </c:extLst>
            </c:dLbl>
            <c:dLbl>
              <c:idx val="1"/>
              <c:numFmt formatCode="0.0%" sourceLinked="0"/>
              <c:spPr/>
              <c:txPr>
                <a:bodyPr/>
                <a:lstStyle/>
                <a:p>
                  <a:pPr>
                    <a:defRPr sz="105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4485-4CBE-AD49-C464F3270492}"/>
                </c:ext>
              </c:extLst>
            </c:dLbl>
            <c:dLbl>
              <c:idx val="2"/>
              <c:numFmt formatCode="0.0%" sourceLinked="0"/>
              <c:spPr/>
              <c:txPr>
                <a:bodyPr/>
                <a:lstStyle/>
                <a:p>
                  <a:pPr>
                    <a:defRPr sz="105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4485-4CBE-AD49-C464F3270492}"/>
                </c:ext>
              </c:extLst>
            </c:dLbl>
            <c:dLbl>
              <c:idx val="3"/>
              <c:numFmt formatCode="0.0%" sourceLinked="0"/>
              <c:spPr/>
              <c:txPr>
                <a:bodyPr/>
                <a:lstStyle/>
                <a:p>
                  <a:pPr>
                    <a:defRPr sz="105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4485-4CBE-AD49-C464F3270492}"/>
                </c:ext>
              </c:extLst>
            </c:dLbl>
            <c:dLbl>
              <c:idx val="4"/>
              <c:numFmt formatCode="0.0%" sourceLinked="0"/>
              <c:spPr/>
              <c:txPr>
                <a:bodyPr/>
                <a:lstStyle/>
                <a:p>
                  <a:pPr>
                    <a:defRPr sz="105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9-4485-4CBE-AD49-C464F3270492}"/>
                </c:ext>
              </c:extLst>
            </c:dLbl>
            <c:dLbl>
              <c:idx val="5"/>
              <c:numFmt formatCode="0.0%" sourceLinked="0"/>
              <c:spPr/>
              <c:txPr>
                <a:bodyPr/>
                <a:lstStyle/>
                <a:p>
                  <a:pPr>
                    <a:defRPr sz="105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B-4485-4CBE-AD49-C464F3270492}"/>
                </c:ext>
              </c:extLst>
            </c:dLbl>
            <c:dLbl>
              <c:idx val="6"/>
              <c:numFmt formatCode="0.0%" sourceLinked="0"/>
              <c:spPr/>
              <c:txPr>
                <a:bodyPr/>
                <a:lstStyle/>
                <a:p>
                  <a:pPr>
                    <a:defRPr sz="105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D-4485-4CBE-AD49-C464F3270492}"/>
                </c:ext>
              </c:extLst>
            </c:dLbl>
            <c:numFmt formatCode="0.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Sheet1!$A$2:$A$8</c:f>
              <c:strCache>
                <c:ptCount val="7"/>
                <c:pt idx="0">
                  <c:v>Sub-Saharan Africa</c:v>
                </c:pt>
                <c:pt idx="1">
                  <c:v>Europe</c:v>
                </c:pt>
                <c:pt idx="2">
                  <c:v>Asia</c:v>
                </c:pt>
                <c:pt idx="3">
                  <c:v>Australia &amp; Oceania</c:v>
                </c:pt>
                <c:pt idx="4">
                  <c:v>Middle East &amp; N. Africa</c:v>
                </c:pt>
                <c:pt idx="5">
                  <c:v>Central America &amp; Carib.</c:v>
                </c:pt>
                <c:pt idx="6">
                  <c:v>North America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0.28884199999999999</c:v>
                </c:pt>
                <c:pt idx="1">
                  <c:v>0.24295</c:v>
                </c:pt>
                <c:pt idx="2">
                  <c:v>0.15542300000000001</c:v>
                </c:pt>
                <c:pt idx="3">
                  <c:v>0.102617</c:v>
                </c:pt>
                <c:pt idx="4">
                  <c:v>0.102314</c:v>
                </c:pt>
                <c:pt idx="5">
                  <c:v>6.6767000000000007E-2</c:v>
                </c:pt>
                <c:pt idx="6">
                  <c:v>4.1088E-2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E-4485-4CBE-AD49-C464F327049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55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50">
              <a:solidFill>
                <a:srgbClr val="1B2B34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Total Profit ($)</c:v>
                </c:pt>
              </c:strCache>
            </c:strRef>
          </c:tx>
          <c:spPr>
            <a:solidFill>
              <a:srgbClr val="1C7293"/>
            </a:solidFill>
            <a:effectLst/>
          </c:spPr>
          <c:invertIfNegative val="0"/>
          <c:cat>
            <c:strRef>
              <c:f>Sheet1!$A$2:$A$13</c:f>
              <c:strCache>
                <c:ptCount val="12"/>
                <c:pt idx="0">
                  <c:v>Cosmetics</c:v>
                </c:pt>
                <c:pt idx="1">
                  <c:v>Household</c:v>
                </c:pt>
                <c:pt idx="2">
                  <c:v>Office Supplies</c:v>
                </c:pt>
                <c:pt idx="3">
                  <c:v>Clothes</c:v>
                </c:pt>
                <c:pt idx="4">
                  <c:v>Baby Food</c:v>
                </c:pt>
                <c:pt idx="5">
                  <c:v>Cereal</c:v>
                </c:pt>
                <c:pt idx="6">
                  <c:v>Vegetables</c:v>
                </c:pt>
                <c:pt idx="7">
                  <c:v>Personal Care</c:v>
                </c:pt>
                <c:pt idx="8">
                  <c:v>Beverages</c:v>
                </c:pt>
                <c:pt idx="9">
                  <c:v>Snacks</c:v>
                </c:pt>
                <c:pt idx="10">
                  <c:v>Meat</c:v>
                </c:pt>
                <c:pt idx="11">
                  <c:v>Fruits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14556048.66</c:v>
                </c:pt>
                <c:pt idx="1">
                  <c:v>7412605.71</c:v>
                </c:pt>
                <c:pt idx="2">
                  <c:v>5929583.75</c:v>
                </c:pt>
                <c:pt idx="3">
                  <c:v>5233334.4000000004</c:v>
                </c:pt>
                <c:pt idx="4">
                  <c:v>3886643.7</c:v>
                </c:pt>
                <c:pt idx="5">
                  <c:v>2292443.4300000002</c:v>
                </c:pt>
                <c:pt idx="6">
                  <c:v>1265819.6299999999</c:v>
                </c:pt>
                <c:pt idx="7">
                  <c:v>1220622.48</c:v>
                </c:pt>
                <c:pt idx="8">
                  <c:v>888047.28</c:v>
                </c:pt>
                <c:pt idx="9">
                  <c:v>751944.18</c:v>
                </c:pt>
                <c:pt idx="10">
                  <c:v>610610</c:v>
                </c:pt>
                <c:pt idx="11">
                  <c:v>120495.18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AE1C-4108-A8A9-09FF7510E4A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30"/>
        <c:axId val="2094734554"/>
        <c:axId val="2094734552"/>
      </c:barChart>
      <c:lineChart>
        <c:grouping val="standard"/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Profit Margin (%)</c:v>
                </c:pt>
              </c:strCache>
            </c:strRef>
          </c:tx>
          <c:spPr>
            <a:ln w="34925" cap="flat">
              <a:solidFill>
                <a:srgbClr val="C97F1E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C97F1E"/>
              </a:solidFill>
              <a:ln w="9525" cap="flat">
                <a:solidFill>
                  <a:srgbClr val="C97F1E"/>
                </a:solidFill>
                <a:prstDash val="solid"/>
                <a:round/>
              </a:ln>
              <a:effectLst/>
            </c:spPr>
          </c:marker>
          <c:cat>
            <c:strRef>
              <c:f>Sheet1!$A$2:$A$13</c:f>
              <c:strCache>
                <c:ptCount val="12"/>
                <c:pt idx="0">
                  <c:v>Cosmetics</c:v>
                </c:pt>
                <c:pt idx="1">
                  <c:v>Household</c:v>
                </c:pt>
                <c:pt idx="2">
                  <c:v>Office Supplies</c:v>
                </c:pt>
                <c:pt idx="3">
                  <c:v>Clothes</c:v>
                </c:pt>
                <c:pt idx="4">
                  <c:v>Baby Food</c:v>
                </c:pt>
                <c:pt idx="5">
                  <c:v>Cereal</c:v>
                </c:pt>
                <c:pt idx="6">
                  <c:v>Vegetables</c:v>
                </c:pt>
                <c:pt idx="7">
                  <c:v>Personal Care</c:v>
                </c:pt>
                <c:pt idx="8">
                  <c:v>Beverages</c:v>
                </c:pt>
                <c:pt idx="9">
                  <c:v>Snacks</c:v>
                </c:pt>
                <c:pt idx="10">
                  <c:v>Meat</c:v>
                </c:pt>
                <c:pt idx="11">
                  <c:v>Fruits</c:v>
                </c:pt>
              </c:strCache>
            </c:strRef>
          </c:cat>
          <c:val>
            <c:numRef>
              <c:f>Sheet1!$C$2:$C$13</c:f>
              <c:numCache>
                <c:formatCode>General</c:formatCode>
                <c:ptCount val="12"/>
                <c:pt idx="0">
                  <c:v>0.39768999999999999</c:v>
                </c:pt>
                <c:pt idx="1">
                  <c:v>0.247999</c:v>
                </c:pt>
                <c:pt idx="2">
                  <c:v>0.19386999999999999</c:v>
                </c:pt>
                <c:pt idx="3">
                  <c:v>0.67203500000000005</c:v>
                </c:pt>
                <c:pt idx="4">
                  <c:v>0.37550899999999998</c:v>
                </c:pt>
                <c:pt idx="5">
                  <c:v>0.430676</c:v>
                </c:pt>
                <c:pt idx="6">
                  <c:v>0.409775</c:v>
                </c:pt>
                <c:pt idx="7">
                  <c:v>0.30661899999999997</c:v>
                </c:pt>
                <c:pt idx="8">
                  <c:v>0.33003199999999999</c:v>
                </c:pt>
                <c:pt idx="9">
                  <c:v>0.36138399999999998</c:v>
                </c:pt>
                <c:pt idx="10">
                  <c:v>0.13558000000000001</c:v>
                </c:pt>
                <c:pt idx="11">
                  <c:v>0.25830700000000001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AE1C-4108-A8A9-09FF7510E4A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5"/>
        <c:axId val="2094734553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 rot="1680000"/>
          <a:lstStyle/>
          <a:p>
            <a:pPr>
              <a:defRPr sz="930" b="0" i="0" u="none" strike="noStrike">
                <a:solidFill>
                  <a:srgbClr val="1B2B34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9525" cap="flat">
              <a:solidFill>
                <a:srgbClr val="E3E9EC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000" b="0" i="0" u="none" strike="noStrike">
                    <a:solidFill>
                      <a:srgbClr val="1C7293"/>
                    </a:solidFill>
                    <a:latin typeface="Arial"/>
                  </a:defRPr>
                </a:pPr>
                <a:r>
                  <a:rPr lang="en-US" sz="1000" b="0" i="0" u="none" strike="noStrike">
                    <a:solidFill>
                      <a:srgbClr val="1C7293"/>
                    </a:solidFill>
                    <a:latin typeface="Arial"/>
                  </a:rPr>
                  <a:t>Total Profit ($)</a:t>
                </a:r>
              </a:p>
            </c:rich>
          </c:tx>
          <c:overlay val="0"/>
        </c:title>
        <c:numFmt formatCode="\$#,##0,,&quot;M&quot;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B6B76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valAx>
        <c:axId val="2094734553"/>
        <c:scaling>
          <c:orientation val="minMax"/>
          <c:max val="0.8"/>
        </c:scaling>
        <c:delete val="0"/>
        <c:axPos val="r"/>
        <c:title>
          <c:tx>
            <c:rich>
              <a:bodyPr/>
              <a:lstStyle/>
              <a:p>
                <a:pPr>
                  <a:defRPr sz="1000" b="0" i="0" u="none" strike="noStrike">
                    <a:solidFill>
                      <a:srgbClr val="C97F1E"/>
                    </a:solidFill>
                    <a:latin typeface="Arial"/>
                  </a:defRPr>
                </a:pPr>
                <a:r>
                  <a:rPr lang="en-US" sz="1000" b="0" i="0" u="none" strike="noStrike">
                    <a:solidFill>
                      <a:srgbClr val="C97F1E"/>
                    </a:solidFill>
                    <a:latin typeface="Arial"/>
                  </a:rPr>
                  <a:t>Profit Margin (%)</a:t>
                </a:r>
              </a:p>
            </c:rich>
          </c:tx>
          <c:overlay val="0"/>
        </c:title>
        <c:numFmt formatCode="0%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B6B76"/>
                </a:solidFill>
                <a:latin typeface="Arial"/>
              </a:defRPr>
            </a:pPr>
            <a:endParaRPr lang="en-US"/>
          </a:p>
        </c:txPr>
        <c:crossAx val="2094734555"/>
        <c:crosses val="max"/>
        <c:crossBetween val="between"/>
      </c:valAx>
      <c:catAx>
        <c:axId val="2094734555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low"/>
        <c:crossAx val="2094734553"/>
        <c:crosses val="autoZero"/>
        <c:auto val="1"/>
        <c:lblAlgn val="ctr"/>
        <c:lblOffset val="100"/>
        <c:noMultiLvlLbl val="1"/>
      </c:cat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1B2B34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Annual Profit</c:v>
                </c:pt>
              </c:strCache>
            </c:strRef>
          </c:tx>
          <c:spPr>
            <a:solidFill>
              <a:srgbClr val="1C7293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E585-47EA-B11C-8DAF5CA3D3D4}"/>
              </c:ext>
            </c:extLst>
          </c:dPt>
          <c:dPt>
            <c:idx val="1"/>
            <c:invertIfNegative val="0"/>
            <c:bubble3D val="0"/>
            <c:spPr>
              <a:solidFill>
                <a:srgbClr val="9FB4BE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E585-47EA-B11C-8DAF5CA3D3D4}"/>
              </c:ext>
            </c:extLst>
          </c:dPt>
          <c:dPt>
            <c:idx val="2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5-E585-47EA-B11C-8DAF5CA3D3D4}"/>
              </c:ext>
            </c:extLst>
          </c:dPt>
          <c:dPt>
            <c:idx val="3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7-E585-47EA-B11C-8DAF5CA3D3D4}"/>
              </c:ext>
            </c:extLst>
          </c:dPt>
          <c:dPt>
            <c:idx val="4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9-E585-47EA-B11C-8DAF5CA3D3D4}"/>
              </c:ext>
            </c:extLst>
          </c:dPt>
          <c:dPt>
            <c:idx val="5"/>
            <c:invertIfNegative val="0"/>
            <c:bubble3D val="0"/>
            <c:spPr>
              <a:solidFill>
                <a:srgbClr val="9FB4BE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B-E585-47EA-B11C-8DAF5CA3D3D4}"/>
              </c:ext>
            </c:extLst>
          </c:dPt>
          <c:dPt>
            <c:idx val="6"/>
            <c:invertIfNegative val="0"/>
            <c:bubble3D val="0"/>
            <c:spPr>
              <a:solidFill>
                <a:srgbClr val="9FB4BE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D-E585-47EA-B11C-8DAF5CA3D3D4}"/>
              </c:ext>
            </c:extLst>
          </c:dPt>
          <c:dPt>
            <c:idx val="7"/>
            <c:invertIfNegative val="0"/>
            <c:bubble3D val="0"/>
            <c:spPr>
              <a:solidFill>
                <a:srgbClr val="9FB4BE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F-E585-47EA-B11C-8DAF5CA3D3D4}"/>
              </c:ext>
            </c:extLst>
          </c:dPt>
          <c:dLbls>
            <c:numFmt formatCode="\$#,##0,,&quot;M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50" b="0" i="0" u="none" strike="noStrike">
                    <a:solidFill>
                      <a:srgbClr val="0B3350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Sheet1!$A$2:$A$9</c:f>
              <c:strCache>
                <c:ptCount val="8"/>
                <c:pt idx="0">
                  <c:v>2010</c:v>
                </c:pt>
                <c:pt idx="1">
                  <c:v>2011</c:v>
                </c:pt>
                <c:pt idx="2">
                  <c:v>2012</c:v>
                </c:pt>
                <c:pt idx="3">
                  <c:v>2013</c:v>
                </c:pt>
                <c:pt idx="4">
                  <c:v>2014</c:v>
                </c:pt>
                <c:pt idx="5">
                  <c:v>2015</c:v>
                </c:pt>
                <c:pt idx="6">
                  <c:v>2016</c:v>
                </c:pt>
                <c:pt idx="7">
                  <c:v>2017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6629567.4299999997</c:v>
                </c:pt>
                <c:pt idx="1">
                  <c:v>2741008.23</c:v>
                </c:pt>
                <c:pt idx="2">
                  <c:v>9213010.1199999992</c:v>
                </c:pt>
                <c:pt idx="3">
                  <c:v>6715420.04</c:v>
                </c:pt>
                <c:pt idx="4">
                  <c:v>5879461.6799999997</c:v>
                </c:pt>
                <c:pt idx="5">
                  <c:v>3996539.44</c:v>
                </c:pt>
                <c:pt idx="6">
                  <c:v>4903838.01</c:v>
                </c:pt>
                <c:pt idx="7">
                  <c:v>4089353.45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0-E585-47EA-B11C-8DAF5CA3D3D4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B2B34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0000000"/>
        </c:scaling>
        <c:delete val="0"/>
        <c:axPos val="l"/>
        <c:majorGridlines>
          <c:spPr>
            <a:ln w="9525" cap="flat">
              <a:solidFill>
                <a:srgbClr val="E3E9EC"/>
              </a:solidFill>
              <a:prstDash val="solid"/>
              <a:round/>
            </a:ln>
          </c:spPr>
        </c:majorGridlines>
        <c:numFmt formatCode="\$#,##0,,&quot;M&quot;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B6B76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</c:v>
                </c:pt>
              </c:strCache>
            </c:strRef>
          </c:tx>
          <c:spPr>
            <a:solidFill>
              <a:srgbClr val="1C7293"/>
            </a:solidFill>
            <a:effectLst/>
          </c:spPr>
          <c:invertIfNegative val="0"/>
          <c:dLbls>
            <c:numFmt formatCode="\$#,##0.00,,&quot;M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0B3350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Honduras</c:v>
                </c:pt>
                <c:pt idx="1">
                  <c:v>Myanmar</c:v>
                </c:pt>
                <c:pt idx="2">
                  <c:v>Djibouti</c:v>
                </c:pt>
                <c:pt idx="3">
                  <c:v>Turkmenistan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6336545.4800000004</c:v>
                </c:pt>
                <c:pt idx="1">
                  <c:v>6161257.9000000004</c:v>
                </c:pt>
                <c:pt idx="2">
                  <c:v>6052890.8600000003</c:v>
                </c:pt>
                <c:pt idx="3">
                  <c:v>5822036.2000000002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77D8-4F1F-9D7B-D3FE95EC6FA3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B2B34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7500000"/>
        </c:scaling>
        <c:delete val="1"/>
        <c:axPos val="b"/>
        <c:numFmt formatCode="General" sourceLinked="0"/>
        <c:majorTickMark val="out"/>
        <c:minorTickMark val="none"/>
        <c:tickLblPos val="low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</c:v>
                </c:pt>
              </c:strCache>
            </c:strRef>
          </c:tx>
          <c:spPr>
            <a:solidFill>
              <a:srgbClr val="C97066"/>
            </a:solidFill>
            <a:effectLst/>
          </c:spPr>
          <c:invertIfNegative val="0"/>
          <c:dLbls>
            <c:numFmt formatCode="\$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0B3350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Slovakia</c:v>
                </c:pt>
                <c:pt idx="1">
                  <c:v>New Zealand</c:v>
                </c:pt>
                <c:pt idx="2">
                  <c:v>Kyrgyzstan</c:v>
                </c:pt>
                <c:pt idx="3">
                  <c:v>Kuwait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26344.26</c:v>
                </c:pt>
                <c:pt idx="1">
                  <c:v>20404.71</c:v>
                </c:pt>
                <c:pt idx="2">
                  <c:v>19103.439999999999</c:v>
                </c:pt>
                <c:pt idx="3">
                  <c:v>4870.26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F3E3-4C2A-9EA4-7A755C6DF08F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B2B34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32000"/>
        </c:scaling>
        <c:delete val="1"/>
        <c:axPos val="b"/>
        <c:numFmt formatCode="General" sourceLinked="0"/>
        <c:majorTickMark val="out"/>
        <c:minorTickMark val="none"/>
        <c:tickLblPos val="low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YoY Growth</c:v>
                </c:pt>
              </c:strCache>
            </c:strRef>
          </c:tx>
          <c:spPr>
            <a:solidFill>
              <a:srgbClr val="C0392B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4B1E-4CA4-984E-6DA436BAB229}"/>
              </c:ext>
            </c:extLst>
          </c:dPt>
          <c:dPt>
            <c:idx val="1"/>
            <c:invertIfNegative val="0"/>
            <c:bubble3D val="0"/>
            <c:spPr>
              <a:solidFill>
                <a:srgbClr val="2E8B57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4B1E-4CA4-984E-6DA436BAB229}"/>
              </c:ext>
            </c:extLst>
          </c:dPt>
          <c:dPt>
            <c:idx val="2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5-4B1E-4CA4-984E-6DA436BAB229}"/>
              </c:ext>
            </c:extLst>
          </c:dPt>
          <c:dPt>
            <c:idx val="3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7-4B1E-4CA4-984E-6DA436BAB229}"/>
              </c:ext>
            </c:extLst>
          </c:dPt>
          <c:dPt>
            <c:idx val="4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9-4B1E-4CA4-984E-6DA436BAB229}"/>
              </c:ext>
            </c:extLst>
          </c:dPt>
          <c:dPt>
            <c:idx val="5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B-4B1E-4CA4-984E-6DA436BAB229}"/>
              </c:ext>
            </c:extLst>
          </c:dPt>
          <c:dPt>
            <c:idx val="6"/>
            <c:invertIfNegative val="0"/>
            <c:bubble3D val="0"/>
            <c:spPr>
              <a:solidFill>
                <a:srgbClr val="2E8B57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D-4B1E-4CA4-984E-6DA436BAB229}"/>
              </c:ext>
            </c:extLst>
          </c:dPt>
          <c:dLbls>
            <c:numFmt formatCode="0.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50" b="0" i="0" u="none" strike="noStrike">
                    <a:solidFill>
                      <a:srgbClr val="1B2B34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Sheet1!$A$2:$A$8</c:f>
              <c:strCache>
                <c:ptCount val="7"/>
                <c:pt idx="0">
                  <c:v>2011</c:v>
                </c:pt>
                <c:pt idx="1">
                  <c:v>2012</c:v>
                </c:pt>
                <c:pt idx="2">
                  <c:v>2013</c:v>
                </c:pt>
                <c:pt idx="3">
                  <c:v>2014</c:v>
                </c:pt>
                <c:pt idx="4">
                  <c:v>2015</c:v>
                </c:pt>
                <c:pt idx="5">
                  <c:v>2016</c:v>
                </c:pt>
                <c:pt idx="6">
                  <c:v>2017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-0.41993399999999997</c:v>
                </c:pt>
                <c:pt idx="1">
                  <c:v>1.8662209999999999</c:v>
                </c:pt>
                <c:pt idx="2">
                  <c:v>-0.36265500000000001</c:v>
                </c:pt>
                <c:pt idx="3">
                  <c:v>-0.182005</c:v>
                </c:pt>
                <c:pt idx="4">
                  <c:v>-0.25268699999999999</c:v>
                </c:pt>
                <c:pt idx="5">
                  <c:v>-4.4349999999999997E-3</c:v>
                </c:pt>
                <c:pt idx="6">
                  <c:v>8.0866999999999994E-2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E-4B1E-4CA4-984E-6DA436BAB229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B2B34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9525" cap="flat">
              <a:solidFill>
                <a:srgbClr val="E3E9EC"/>
              </a:solidFill>
              <a:prstDash val="solid"/>
              <a:round/>
            </a:ln>
          </c:spPr>
        </c:majorGridlines>
        <c:numFmt formatCode="0%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B6B76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Average Order Value</c:v>
                </c:pt>
              </c:strCache>
            </c:strRef>
          </c:tx>
          <c:spPr>
            <a:ln w="38100" cap="flat">
              <a:solidFill>
                <a:srgbClr val="C97F1E"/>
              </a:solidFill>
              <a:prstDash val="solid"/>
              <a:round/>
            </a:ln>
            <a:effectLst/>
          </c:spPr>
          <c:marker>
            <c:symbol val="circle"/>
            <c:size val="8"/>
            <c:spPr>
              <a:solidFill>
                <a:srgbClr val="C97F1E"/>
              </a:solidFill>
              <a:ln w="9525" cap="flat">
                <a:solidFill>
                  <a:srgbClr val="C97F1E"/>
                </a:solidFill>
                <a:prstDash val="solid"/>
                <a:round/>
              </a:ln>
              <a:effectLst/>
            </c:spPr>
          </c:marker>
          <c:dLbls>
            <c:numFmt formatCode="\$#,##0,,&quot;M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50" b="0" i="0" u="none" strike="noStrike">
                    <a:solidFill>
                      <a:srgbClr val="0B3350"/>
                    </a:solidFill>
                    <a:latin typeface="Arial"/>
                  </a:defRPr>
                </a:pPr>
                <a:endParaRPr lang="en-US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Sheet1!$A$2:$A$9</c:f>
              <c:strCache>
                <c:ptCount val="8"/>
                <c:pt idx="0">
                  <c:v>2010</c:v>
                </c:pt>
                <c:pt idx="1">
                  <c:v>2011</c:v>
                </c:pt>
                <c:pt idx="2">
                  <c:v>2012</c:v>
                </c:pt>
                <c:pt idx="3">
                  <c:v>2013</c:v>
                </c:pt>
                <c:pt idx="4">
                  <c:v>2014</c:v>
                </c:pt>
                <c:pt idx="5">
                  <c:v>2015</c:v>
                </c:pt>
                <c:pt idx="6">
                  <c:v>2016</c:v>
                </c:pt>
                <c:pt idx="7">
                  <c:v>2017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1918602.49</c:v>
                </c:pt>
                <c:pt idx="1">
                  <c:v>927430.51</c:v>
                </c:pt>
                <c:pt idx="2">
                  <c:v>1449938.39</c:v>
                </c:pt>
                <c:pt idx="3">
                  <c:v>1694204.06</c:v>
                </c:pt>
                <c:pt idx="4">
                  <c:v>1108680.96</c:v>
                </c:pt>
                <c:pt idx="5">
                  <c:v>1129816.6200000001</c:v>
                </c:pt>
                <c:pt idx="6">
                  <c:v>1237286.72</c:v>
                </c:pt>
                <c:pt idx="7">
                  <c:v>1671677.45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49D8-4E2E-A37E-70428A9CD5B9}"/>
            </c:ext>
          </c:extLst>
        </c:ser>
        <c:dLbls>
          <c:dLblPos val="t"/>
          <c:showLegendKey val="0"/>
          <c:showVal val="1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50" b="0" i="0" u="none" strike="noStrike">
                <a:solidFill>
                  <a:srgbClr val="1B2B34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2200000"/>
          <c:min val="0"/>
        </c:scaling>
        <c:delete val="0"/>
        <c:axPos val="l"/>
        <c:majorGridlines>
          <c:spPr>
            <a:ln w="9525" cap="flat">
              <a:solidFill>
                <a:srgbClr val="E3E9EC"/>
              </a:solidFill>
              <a:prstDash val="solid"/>
              <a:round/>
            </a:ln>
          </c:spPr>
        </c:majorGridlines>
        <c:numFmt formatCode="\$#,##0.0,,&quot;M&quot;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B6B76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5778033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5.xm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6.xm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8.xm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9.xm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335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74175" y="-2651760"/>
            <a:ext cx="2377440" cy="2377440"/>
          </a:xfrm>
          <a:prstGeom prst="ellipse">
            <a:avLst/>
          </a:prstGeom>
          <a:ln w="17780">
            <a:solidFill>
              <a:srgbClr val="1C7293">
                <a:alpha val="6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8607247" y="-3218688"/>
            <a:ext cx="3511296" cy="3511296"/>
          </a:xfrm>
          <a:prstGeom prst="ellipse">
            <a:avLst/>
          </a:prstGeom>
          <a:ln w="17780">
            <a:solidFill>
              <a:srgbClr val="F2A541">
                <a:alpha val="6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8040319" y="-3785616"/>
            <a:ext cx="4645152" cy="4645152"/>
          </a:xfrm>
          <a:prstGeom prst="ellipse">
            <a:avLst/>
          </a:prstGeom>
          <a:ln w="17780">
            <a:solidFill>
              <a:srgbClr val="1C7293">
                <a:alpha val="6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7473391" y="-4352544"/>
            <a:ext cx="5779008" cy="5779008"/>
          </a:xfrm>
          <a:prstGeom prst="ellipse">
            <a:avLst/>
          </a:prstGeom>
          <a:ln w="17780">
            <a:solidFill>
              <a:srgbClr val="F2A541">
                <a:alpha val="6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-1371600" y="5303520"/>
            <a:ext cx="1645920" cy="1645920"/>
          </a:xfrm>
          <a:prstGeom prst="ellipse">
            <a:avLst/>
          </a:prstGeom>
          <a:ln w="15240">
            <a:solidFill>
              <a:srgbClr val="1C7293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-1828800" y="4846320"/>
            <a:ext cx="2560320" cy="2560320"/>
          </a:xfrm>
          <a:prstGeom prst="ellipse">
            <a:avLst/>
          </a:prstGeom>
          <a:ln w="15240">
            <a:solidFill>
              <a:srgbClr val="1C7293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-2286000" y="4389120"/>
            <a:ext cx="3474720" cy="3474720"/>
          </a:xfrm>
          <a:prstGeom prst="ellipse">
            <a:avLst/>
          </a:prstGeom>
          <a:ln w="15240">
            <a:solidFill>
              <a:srgbClr val="1C7293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822960" y="214884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kern="0" spc="300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ECHOES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77240" y="2514600"/>
            <a:ext cx="10058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Annual Sales Performance Report</a:t>
            </a:r>
            <a:endParaRPr lang="en-US" sz="4400" dirty="0"/>
          </a:p>
        </p:txBody>
      </p:sp>
      <p:sp>
        <p:nvSpPr>
          <p:cNvPr id="11" name="Text 9"/>
          <p:cNvSpPr/>
          <p:nvPr/>
        </p:nvSpPr>
        <p:spPr>
          <a:xfrm>
            <a:off x="822960" y="3611880"/>
            <a:ext cx="9875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BFE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Global Review of Revenue, Profitability &amp; Growth  •  Fiscal Years 2010 – 2017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822960" y="4206240"/>
            <a:ext cx="1828800" cy="0"/>
          </a:xfrm>
          <a:prstGeom prst="line">
            <a:avLst/>
          </a:prstGeom>
          <a:noFill/>
          <a:ln w="31750">
            <a:solidFill>
              <a:srgbClr val="F2A54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822960" y="5394960"/>
            <a:ext cx="9601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000"/>
              </a:lnSpc>
              <a:buNone/>
            </a:pPr>
            <a:r>
              <a:rPr lang="en-US" sz="1250" dirty="0">
                <a:solidFill>
                  <a:srgbClr val="BFE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by:  </a:t>
            </a: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&amp; Business Intelligence Analytics Team
</a:t>
            </a:r>
            <a:r>
              <a:rPr lang="en-US" sz="1250" dirty="0">
                <a:solidFill>
                  <a:srgbClr val="BFE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source:  </a:t>
            </a: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Sales Records (Power BI Model) &amp; Cleaned Excel Dataset</a:t>
            </a:r>
            <a:endParaRPr lang="en-US" sz="12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SUMMARY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11247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B33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Business at a Glance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 |  ANNUAL SALES PERFORMANCE REPORT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1207008"/>
            <a:ext cx="11247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900"/>
              </a:lnSpc>
              <a:buNone/>
            </a:pPr>
            <a:r>
              <a:rPr lang="en-US" sz="130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Between 2010 and 2017, Digital Echoes generated $137.3M in cumulative revenue across 7 world regions and 76 countries, converting 32.2% of every sales dollar into profit. Performance was strongest in Sub-Saharan Africa and Europe, while Clothes and Cosmetics led profitability. The sections that follow unpack the KPIs behind this headline picture.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2148840"/>
            <a:ext cx="1783080" cy="1737360"/>
          </a:xfrm>
          <a:prstGeom prst="roundRect">
            <a:avLst>
              <a:gd name="adj" fmla="val 4211"/>
            </a:avLst>
          </a:prstGeom>
          <a:solidFill>
            <a:srgbClr val="F4F7F9"/>
          </a:solidFill>
          <a:ln w="12700">
            <a:solidFill>
              <a:srgbClr val="E3E9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457200" y="2148840"/>
            <a:ext cx="1783080" cy="54864"/>
          </a:xfrm>
          <a:prstGeom prst="rect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530352" y="2441448"/>
            <a:ext cx="163677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$137.3M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530352" y="3063240"/>
            <a:ext cx="163677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105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Revenue</a:t>
            </a:r>
            <a:endParaRPr lang="en-US" sz="1050" dirty="0"/>
          </a:p>
          <a:p>
            <a:pPr marL="0" indent="0" algn="ctr">
              <a:lnSpc>
                <a:spcPts val="1200"/>
              </a:lnSpc>
              <a:buNone/>
            </a:pPr>
            <a:r>
              <a:rPr lang="en-US" sz="105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(2010–2017)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2404872" y="2148840"/>
            <a:ext cx="1783080" cy="1737360"/>
          </a:xfrm>
          <a:prstGeom prst="roundRect">
            <a:avLst>
              <a:gd name="adj" fmla="val 4211"/>
            </a:avLst>
          </a:prstGeom>
          <a:solidFill>
            <a:srgbClr val="F4F7F9"/>
          </a:solidFill>
          <a:ln w="12700">
            <a:solidFill>
              <a:srgbClr val="E3E9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2404872" y="2148840"/>
            <a:ext cx="1783080" cy="54864"/>
          </a:xfrm>
          <a:prstGeom prst="rect">
            <a:avLst/>
          </a:prstGeom>
          <a:solidFill>
            <a:srgbClr val="C97F1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2478024" y="2441448"/>
            <a:ext cx="163677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C97F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$44.2M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2478024" y="3063240"/>
            <a:ext cx="163677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105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Profit</a:t>
            </a:r>
            <a:endParaRPr lang="en-US" sz="1050" dirty="0"/>
          </a:p>
          <a:p>
            <a:pPr marL="0" indent="0" algn="ctr">
              <a:lnSpc>
                <a:spcPts val="1200"/>
              </a:lnSpc>
              <a:buNone/>
            </a:pPr>
            <a:r>
              <a:rPr lang="en-US" sz="105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(2010–2017)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352544" y="2148840"/>
            <a:ext cx="1783080" cy="1737360"/>
          </a:xfrm>
          <a:prstGeom prst="roundRect">
            <a:avLst>
              <a:gd name="adj" fmla="val 4211"/>
            </a:avLst>
          </a:prstGeom>
          <a:solidFill>
            <a:srgbClr val="F4F7F9"/>
          </a:solidFill>
          <a:ln w="12700">
            <a:solidFill>
              <a:srgbClr val="E3E9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4352544" y="2148840"/>
            <a:ext cx="1783080" cy="54864"/>
          </a:xfrm>
          <a:prstGeom prst="rect">
            <a:avLst/>
          </a:prstGeom>
          <a:solidFill>
            <a:srgbClr val="12456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4425696" y="2441448"/>
            <a:ext cx="163677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245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32.2%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4425696" y="3063240"/>
            <a:ext cx="163677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105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Blended Profit</a:t>
            </a:r>
            <a:endParaRPr lang="en-US" sz="1050" dirty="0"/>
          </a:p>
          <a:p>
            <a:pPr marL="0" indent="0" algn="ctr">
              <a:lnSpc>
                <a:spcPts val="1200"/>
              </a:lnSpc>
              <a:buNone/>
            </a:pPr>
            <a:r>
              <a:rPr lang="en-US" sz="105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Margin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6300216" y="2148840"/>
            <a:ext cx="1783080" cy="1737360"/>
          </a:xfrm>
          <a:prstGeom prst="roundRect">
            <a:avLst>
              <a:gd name="adj" fmla="val 4211"/>
            </a:avLst>
          </a:prstGeom>
          <a:solidFill>
            <a:srgbClr val="F4F7F9"/>
          </a:solidFill>
          <a:ln w="12700">
            <a:solidFill>
              <a:srgbClr val="E3E9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6300216" y="2148840"/>
            <a:ext cx="1783080" cy="54864"/>
          </a:xfrm>
          <a:prstGeom prst="rect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6373368" y="2441448"/>
            <a:ext cx="163677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6373368" y="3063240"/>
            <a:ext cx="163677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105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Regions</a:t>
            </a:r>
            <a:endParaRPr lang="en-US" sz="1050" dirty="0"/>
          </a:p>
          <a:p>
            <a:pPr marL="0" indent="0" algn="ctr">
              <a:lnSpc>
                <a:spcPts val="1200"/>
              </a:lnSpc>
              <a:buNone/>
            </a:pPr>
            <a:r>
              <a:rPr lang="en-US" sz="105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Served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8247888" y="2148840"/>
            <a:ext cx="1783080" cy="1737360"/>
          </a:xfrm>
          <a:prstGeom prst="roundRect">
            <a:avLst>
              <a:gd name="adj" fmla="val 4211"/>
            </a:avLst>
          </a:prstGeom>
          <a:solidFill>
            <a:srgbClr val="F4F7F9"/>
          </a:solidFill>
          <a:ln w="12700">
            <a:solidFill>
              <a:srgbClr val="E3E9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8247888" y="2148840"/>
            <a:ext cx="1783080" cy="54864"/>
          </a:xfrm>
          <a:prstGeom prst="rect">
            <a:avLst/>
          </a:prstGeom>
          <a:solidFill>
            <a:srgbClr val="C97F1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8321040" y="2441448"/>
            <a:ext cx="163677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C97F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76</a:t>
            </a:r>
            <a:endParaRPr lang="en-US" sz="2400" dirty="0"/>
          </a:p>
        </p:txBody>
      </p:sp>
      <p:sp>
        <p:nvSpPr>
          <p:cNvPr id="26" name="Text 24"/>
          <p:cNvSpPr/>
          <p:nvPr/>
        </p:nvSpPr>
        <p:spPr>
          <a:xfrm>
            <a:off x="8321040" y="3063240"/>
            <a:ext cx="163677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105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Countries with</a:t>
            </a:r>
            <a:endParaRPr lang="en-US" sz="1050" dirty="0"/>
          </a:p>
          <a:p>
            <a:pPr marL="0" indent="0" algn="ctr">
              <a:lnSpc>
                <a:spcPts val="1200"/>
              </a:lnSpc>
              <a:buNone/>
            </a:pPr>
            <a:r>
              <a:rPr lang="en-US" sz="105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Orders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10195560" y="2148840"/>
            <a:ext cx="1783080" cy="1737360"/>
          </a:xfrm>
          <a:prstGeom prst="roundRect">
            <a:avLst>
              <a:gd name="adj" fmla="val 4211"/>
            </a:avLst>
          </a:prstGeom>
          <a:solidFill>
            <a:srgbClr val="F4F7F9"/>
          </a:solidFill>
          <a:ln w="12700">
            <a:solidFill>
              <a:srgbClr val="E3E9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10195560" y="2148840"/>
            <a:ext cx="1783080" cy="54864"/>
          </a:xfrm>
          <a:prstGeom prst="rect">
            <a:avLst/>
          </a:prstGeom>
          <a:solidFill>
            <a:srgbClr val="12456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10268712" y="2441448"/>
            <a:ext cx="163677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245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</a:t>
            </a:r>
            <a:endParaRPr lang="en-US" sz="2400" dirty="0"/>
          </a:p>
        </p:txBody>
      </p:sp>
      <p:sp>
        <p:nvSpPr>
          <p:cNvPr id="30" name="Text 28"/>
          <p:cNvSpPr/>
          <p:nvPr/>
        </p:nvSpPr>
        <p:spPr>
          <a:xfrm>
            <a:off x="10268712" y="3063240"/>
            <a:ext cx="163677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105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Orders in the</a:t>
            </a:r>
            <a:endParaRPr lang="en-US" sz="1050" dirty="0"/>
          </a:p>
          <a:p>
            <a:pPr marL="0" indent="0" algn="ctr">
              <a:lnSpc>
                <a:spcPts val="1200"/>
              </a:lnSpc>
              <a:buNone/>
            </a:pPr>
            <a:r>
              <a:rPr lang="en-US" sz="105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 Sample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457200" y="4160520"/>
            <a:ext cx="11247120" cy="2011680"/>
          </a:xfrm>
          <a:prstGeom prst="roundRect">
            <a:avLst>
              <a:gd name="adj" fmla="val 3636"/>
            </a:avLst>
          </a:prstGeom>
          <a:solidFill>
            <a:srgbClr val="0B335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777240" y="4370832"/>
            <a:ext cx="10607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20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REPORT COVERS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777240" y="4709160"/>
            <a:ext cx="106070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lnSpc>
                <a:spcPts val="21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&amp; profit performance by region, country, and product category</a:t>
            </a:r>
            <a:endParaRPr lang="en-US" sz="1300" dirty="0"/>
          </a:p>
          <a:p>
            <a:pPr marL="177800" indent="-177800">
              <a:lnSpc>
                <a:spcPts val="21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trends in revenue, units sold, profit, and order value (2010–2017)</a:t>
            </a:r>
            <a:endParaRPr lang="en-US" sz="1300" dirty="0"/>
          </a:p>
          <a:p>
            <a:pPr marL="177800" indent="-177800">
              <a:lnSpc>
                <a:spcPts val="21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Year-on-year growth analysis and profitability drivers by item type</a:t>
            </a:r>
            <a:endParaRPr lang="en-US" sz="1300" dirty="0"/>
          </a:p>
          <a:p>
            <a:pPr marL="177800" indent="-177800">
              <a:lnSpc>
                <a:spcPts val="21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Best- and worst-performing markets, and the top 3 products by volume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11247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B33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About the Data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 |  ANNUAL SALES PERFORMANCE REPORT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1234440"/>
            <a:ext cx="5394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33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Source &amp; Scope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1572768"/>
            <a:ext cx="5394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250" b="1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 sales order records</a:t>
            </a:r>
            <a:r>
              <a:rPr lang="en-US" sz="125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spanning fiscal years 2010–2017, covering </a:t>
            </a:r>
            <a:r>
              <a:rPr lang="en-US" sz="1250" b="1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product categories</a:t>
            </a:r>
            <a:r>
              <a:rPr lang="en-US" sz="125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sold across </a:t>
            </a:r>
            <a:r>
              <a:rPr lang="en-US" sz="1250" b="1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76 countries</a:t>
            </a:r>
            <a:r>
              <a:rPr lang="en-US" sz="125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in 7 regions, through online and offline channels. The dataset and this report were modeled in Power BI (</a:t>
            </a:r>
            <a:r>
              <a:rPr lang="en-US" sz="1250" dirty="0" err="1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DE_BI.pbix</a:t>
            </a:r>
            <a:r>
              <a:rPr lang="en-US" sz="125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 and cleaned in Excel (DE_SalesRecord.xlsx).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457200" y="3063240"/>
            <a:ext cx="5394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33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Cleaning Applied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57200" y="3401568"/>
            <a:ext cx="53949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lnSpc>
                <a:spcPts val="1650"/>
              </a:lnSpc>
              <a:spcAft>
                <a:spcPts val="500"/>
              </a:spcAft>
              <a:buSzPct val="100000"/>
              <a:buChar char="✓"/>
            </a:pPr>
            <a:r>
              <a:rPr lang="en-US" sz="115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Priority codes decoded from abbreviations to plain labels</a:t>
            </a:r>
            <a:endParaRPr lang="en-US" sz="1150" dirty="0"/>
          </a:p>
          <a:p>
            <a:pPr marL="177800" indent="-177800">
              <a:lnSpc>
                <a:spcPts val="1650"/>
              </a:lnSpc>
              <a:spcAft>
                <a:spcPts val="500"/>
              </a:spcAft>
              <a:buSzPct val="100000"/>
              <a:buChar char="✓"/>
            </a:pPr>
            <a:r>
              <a:rPr lang="en-US" sz="115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Date &amp; Ship Date converted to proper date types</a:t>
            </a:r>
            <a:endParaRPr lang="en-US" sz="1150" dirty="0"/>
          </a:p>
          <a:p>
            <a:pPr marL="177800" indent="-177800">
              <a:lnSpc>
                <a:spcPts val="1650"/>
              </a:lnSpc>
              <a:spcAft>
                <a:spcPts val="500"/>
              </a:spcAft>
              <a:buSzPct val="100000"/>
              <a:buChar char="✓"/>
            </a:pPr>
            <a:r>
              <a:rPr lang="en-US" sz="115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Channel casing standardized (e.g., “ONLINE” → “online”)</a:t>
            </a:r>
            <a:endParaRPr lang="en-US" sz="1150" dirty="0"/>
          </a:p>
          <a:p>
            <a:pPr marL="177800" indent="-177800">
              <a:lnSpc>
                <a:spcPts val="1650"/>
              </a:lnSpc>
              <a:spcAft>
                <a:spcPts val="500"/>
              </a:spcAft>
              <a:buSzPct val="100000"/>
              <a:buChar char="✓"/>
            </a:pPr>
            <a:r>
              <a:rPr lang="en-US" sz="115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Units Sold, prices, revenue, cost &amp; profit fields corrected from text to numeric</a:t>
            </a:r>
            <a:endParaRPr lang="en-US" sz="1150" dirty="0"/>
          </a:p>
          <a:p>
            <a:pPr marL="177800" indent="-177800">
              <a:lnSpc>
                <a:spcPts val="1650"/>
              </a:lnSpc>
              <a:spcAft>
                <a:spcPts val="500"/>
              </a:spcAft>
              <a:buSzPct val="100000"/>
              <a:buChar char="✓"/>
            </a:pPr>
            <a:r>
              <a:rPr lang="en-US" sz="115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Augmented with Order Year, Order Month &amp; Days-to-Ship for trend analysis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172200" y="1234440"/>
            <a:ext cx="5532120" cy="4572000"/>
          </a:xfrm>
          <a:prstGeom prst="roundRect">
            <a:avLst>
              <a:gd name="adj" fmla="val 1600"/>
            </a:avLst>
          </a:prstGeom>
          <a:solidFill>
            <a:srgbClr val="F4F7F9"/>
          </a:solidFill>
          <a:ln w="12700">
            <a:solidFill>
              <a:srgbClr val="E3E9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6492240" y="1463040"/>
            <a:ext cx="4892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2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SNAPSHOT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492240" y="187452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Reporting period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8732520" y="187452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2010 – 2017 (8 fiscal years)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492240" y="2258568"/>
            <a:ext cx="4892040" cy="0"/>
          </a:xfrm>
          <a:prstGeom prst="line">
            <a:avLst/>
          </a:prstGeom>
          <a:noFill/>
          <a:ln w="9525">
            <a:solidFill>
              <a:srgbClr val="E3E9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6492240" y="2359152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Orders analyzed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8732520" y="2359152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6492240" y="2743200"/>
            <a:ext cx="4892040" cy="0"/>
          </a:xfrm>
          <a:prstGeom prst="line">
            <a:avLst/>
          </a:prstGeom>
          <a:noFill/>
          <a:ln w="9525">
            <a:solidFill>
              <a:srgbClr val="E3E9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6492240" y="2843784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Regions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8732520" y="2843784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6492240" y="3227832"/>
            <a:ext cx="4892040" cy="0"/>
          </a:xfrm>
          <a:prstGeom prst="line">
            <a:avLst/>
          </a:prstGeom>
          <a:noFill/>
          <a:ln w="9525">
            <a:solidFill>
              <a:srgbClr val="E3E9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6492240" y="3328416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Countries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8732520" y="3328416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76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6492240" y="3712464"/>
            <a:ext cx="4892040" cy="0"/>
          </a:xfrm>
          <a:prstGeom prst="line">
            <a:avLst/>
          </a:prstGeom>
          <a:noFill/>
          <a:ln w="9525">
            <a:solidFill>
              <a:srgbClr val="E3E9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6492240" y="3813048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categories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8732520" y="3813048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6492240" y="4197096"/>
            <a:ext cx="4892040" cy="0"/>
          </a:xfrm>
          <a:prstGeom prst="line">
            <a:avLst/>
          </a:prstGeom>
          <a:noFill/>
          <a:ln w="9525">
            <a:solidFill>
              <a:srgbClr val="E3E9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6492240" y="429768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channels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8732520" y="429768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Online, Offline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6492240" y="4681728"/>
            <a:ext cx="4892040" cy="0"/>
          </a:xfrm>
          <a:prstGeom prst="line">
            <a:avLst/>
          </a:prstGeom>
          <a:noFill/>
          <a:ln w="9525">
            <a:solidFill>
              <a:srgbClr val="E3E9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6492240" y="4782312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priorities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8732520" y="4782312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Low, Medium, High, Critical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6492240" y="5166360"/>
            <a:ext cx="4892040" cy="0"/>
          </a:xfrm>
          <a:prstGeom prst="line">
            <a:avLst/>
          </a:prstGeom>
          <a:noFill/>
          <a:ln w="9525">
            <a:solidFill>
              <a:srgbClr val="E3E9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6492240" y="5266944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measures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8732520" y="5266944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Units Sold, Unit Price/Cost, Revenue, Cost, Profit</a:t>
            </a:r>
            <a:endParaRPr lang="en-US" sz="1150" dirty="0"/>
          </a:p>
        </p:txBody>
      </p:sp>
      <p:sp>
        <p:nvSpPr>
          <p:cNvPr id="35" name="Text 33"/>
          <p:cNvSpPr/>
          <p:nvPr/>
        </p:nvSpPr>
        <p:spPr>
          <a:xfrm>
            <a:off x="457200" y="5989320"/>
            <a:ext cx="11247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200"/>
              </a:lnSpc>
              <a:buNone/>
            </a:pPr>
            <a:r>
              <a:rPr lang="en-US" sz="950" i="1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Note: results reflect the 100-order analytical sample provided; figures should be read as directional indicators of regional and category performance rather than full-population totals.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 1  •  REGIONAL PERFORMANCE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11247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B33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Total Revenue &amp; Profit by Region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 |  ANNUAL SALES PERFORMANCE REPORT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graphicFrame>
        <p:nvGraphicFramePr>
          <p:cNvPr id="6" name="Chart 0"/>
          <p:cNvGraphicFramePr/>
          <p:nvPr/>
        </p:nvGraphicFramePr>
        <p:xfrm>
          <a:off x="457200" y="1234440"/>
          <a:ext cx="7863840" cy="50749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" name="Shape 4"/>
          <p:cNvSpPr/>
          <p:nvPr/>
        </p:nvSpPr>
        <p:spPr>
          <a:xfrm>
            <a:off x="8549640" y="1234440"/>
            <a:ext cx="3154680" cy="5074920"/>
          </a:xfrm>
          <a:prstGeom prst="roundRect">
            <a:avLst>
              <a:gd name="adj" fmla="val 2319"/>
            </a:avLst>
          </a:prstGeom>
          <a:solidFill>
            <a:srgbClr val="0B335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8823960" y="1463040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THE CHART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8823960" y="1828800"/>
            <a:ext cx="2606040" cy="429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Sub-Saharan Africa</a:t>
            </a:r>
            <a:r>
              <a:rPr lang="en-US" sz="1200" dirty="0">
                <a:solidFill>
                  <a:srgbClr val="BFE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leads on both fronts — $39.7M revenue and $12.2M profit — followed closely by </a:t>
            </a: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Europe</a:t>
            </a:r>
            <a:r>
              <a:rPr lang="en-US" sz="1200" dirty="0">
                <a:solidFill>
                  <a:srgbClr val="BFE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($33.4M / $11.1M).
</a:t>
            </a: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North America</a:t>
            </a:r>
            <a:r>
              <a:rPr lang="en-US" sz="1200" dirty="0">
                <a:solidFill>
                  <a:srgbClr val="BFE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is the smallest contributor at $5.6M revenue, under a sixth of the top region.
Together, the top 2 regions generate 53% of total company revenue — a concentration worth monitoring.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 2  •  ANNUAL TREND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11247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B33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Total Revenue Made Annually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 |  ANNUAL SALES PERFORMANCE REPORT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graphicFrame>
        <p:nvGraphicFramePr>
          <p:cNvPr id="6" name="Chart 0"/>
          <p:cNvGraphicFramePr/>
          <p:nvPr/>
        </p:nvGraphicFramePr>
        <p:xfrm>
          <a:off x="457200" y="1234440"/>
          <a:ext cx="11247120" cy="41605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" name="Shape 4"/>
          <p:cNvSpPr/>
          <p:nvPr/>
        </p:nvSpPr>
        <p:spPr>
          <a:xfrm>
            <a:off x="457200" y="5532120"/>
            <a:ext cx="11247120" cy="777240"/>
          </a:xfrm>
          <a:prstGeom prst="roundRect">
            <a:avLst>
              <a:gd name="adj" fmla="val 9412"/>
            </a:avLst>
          </a:prstGeom>
          <a:solidFill>
            <a:srgbClr val="F4F7F9"/>
          </a:solidFill>
          <a:ln w="12700">
            <a:solidFill>
              <a:srgbClr val="E3E9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731520" y="5532120"/>
            <a:ext cx="10698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Peak year: </a:t>
            </a:r>
            <a:r>
              <a:rPr lang="en-US" sz="1250" b="1" dirty="0">
                <a:solidFill>
                  <a:srgbClr val="0B33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2012 at $31.9M  </a:t>
            </a:r>
            <a:r>
              <a:rPr lang="en-US" sz="125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Lowest year: </a:t>
            </a:r>
            <a:r>
              <a:rPr lang="en-US" sz="1250" b="1" dirty="0">
                <a:solidFill>
                  <a:srgbClr val="0B33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2011 at $11.1M  </a:t>
            </a:r>
            <a:r>
              <a:rPr lang="en-US" sz="125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8-year cumulative total: </a:t>
            </a:r>
            <a:r>
              <a:rPr lang="en-US" sz="1250" b="1" dirty="0">
                <a:solidFill>
                  <a:srgbClr val="0B33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$137.3M  </a:t>
            </a:r>
            <a:r>
              <a:rPr lang="en-US" sz="125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Average per year: </a:t>
            </a:r>
            <a:r>
              <a:rPr lang="en-US" sz="1250" b="1" dirty="0">
                <a:solidFill>
                  <a:srgbClr val="0B33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$17.2M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 3  •  PRODUCT VOLUME TREND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11247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B33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Units Sold Year-by-Year, by Item Type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 |  ANNUAL SALES PERFORMANCE REPORT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34440"/>
          <a:ext cx="11256264" cy="4526280"/>
        </p:xfrm>
        <a:graphic>
          <a:graphicData uri="http://schemas.openxmlformats.org/drawingml/2006/table">
            <a:tbl>
              <a:tblPr/>
              <a:tblGrid>
                <a:gridCol w="777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7325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7325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7325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7325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7325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73252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873252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873252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873252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873252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873252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873252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</a:tblGrid>
              <a:tr h="4526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6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Year</a:t>
                      </a:r>
                      <a:endParaRPr lang="en-US" sz="86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3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6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Cosmetics</a:t>
                      </a:r>
                      <a:endParaRPr lang="en-US" sz="86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3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6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Clothes</a:t>
                      </a:r>
                      <a:endParaRPr lang="en-US" sz="86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3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6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Beverages</a:t>
                      </a:r>
                      <a:endParaRPr lang="en-US" sz="86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3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6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Fruits</a:t>
                      </a:r>
                      <a:endParaRPr lang="en-US" sz="86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3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6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Personal</a:t>
                      </a:r>
                      <a:endParaRPr lang="en-US" sz="86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86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Care</a:t>
                      </a:r>
                      <a:endParaRPr lang="en-US" sz="86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3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6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Office</a:t>
                      </a:r>
                      <a:endParaRPr lang="en-US" sz="86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86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Supplies</a:t>
                      </a:r>
                      <a:endParaRPr lang="en-US" sz="86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3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6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Household</a:t>
                      </a:r>
                      <a:endParaRPr lang="en-US" sz="86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3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6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Baby</a:t>
                      </a:r>
                      <a:endParaRPr lang="en-US" sz="86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86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Food</a:t>
                      </a:r>
                      <a:endParaRPr lang="en-US" sz="86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3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6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Cereal</a:t>
                      </a:r>
                      <a:endParaRPr lang="en-US" sz="86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3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6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Vegetables</a:t>
                      </a:r>
                      <a:endParaRPr lang="en-US" sz="86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3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6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Snacks</a:t>
                      </a:r>
                      <a:endParaRPr lang="en-US" sz="86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3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6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Meat</a:t>
                      </a:r>
                      <a:endParaRPr lang="en-US" sz="86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3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26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0B33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2010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8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15,144</a:t>
                      </a:r>
                      <a:endParaRPr lang="en-US" sz="8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5829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8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18,290</a:t>
                      </a:r>
                      <a:endParaRPr lang="en-US" sz="8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729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80" dirty="0">
                          <a:solidFill>
                            <a:srgbClr val="C9CFD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8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80" dirty="0">
                          <a:solidFill>
                            <a:srgbClr val="1B2B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5,822</a:t>
                      </a:r>
                      <a:endParaRPr lang="en-US" sz="8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CAD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80" dirty="0">
                          <a:solidFill>
                            <a:srgbClr val="1B2B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273</a:t>
                      </a:r>
                      <a:endParaRPr lang="en-US" sz="8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80" dirty="0">
                          <a:solidFill>
                            <a:srgbClr val="1B2B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8,287</a:t>
                      </a:r>
                      <a:endParaRPr lang="en-US" sz="8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CB7C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80" dirty="0">
                          <a:solidFill>
                            <a:srgbClr val="1B2B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3,830</a:t>
                      </a:r>
                      <a:endParaRPr lang="en-US" sz="8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4D9E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80" dirty="0">
                          <a:solidFill>
                            <a:srgbClr val="1B2B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9,925</a:t>
                      </a:r>
                      <a:endParaRPr lang="en-US" sz="8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7AAB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80" dirty="0">
                          <a:solidFill>
                            <a:srgbClr val="C9CFD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8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80" dirty="0">
                          <a:solidFill>
                            <a:srgbClr val="C9CFD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8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80" dirty="0">
                          <a:solidFill>
                            <a:srgbClr val="C9CFD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8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80" dirty="0">
                          <a:solidFill>
                            <a:srgbClr val="C9CFD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8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26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0B33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2011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80" dirty="0">
                          <a:solidFill>
                            <a:srgbClr val="C9CFD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8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80" dirty="0">
                          <a:solidFill>
                            <a:srgbClr val="1B2B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888</a:t>
                      </a:r>
                      <a:endParaRPr lang="en-US" sz="8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0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8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22,726</a:t>
                      </a:r>
                      <a:endParaRPr lang="en-US" sz="8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729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80" dirty="0">
                          <a:solidFill>
                            <a:srgbClr val="1B2B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10,051</a:t>
                      </a:r>
                      <a:endParaRPr lang="en-US" sz="8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5A9B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80" dirty="0">
                          <a:solidFill>
                            <a:srgbClr val="C9CFD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8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80" dirty="0">
                          <a:solidFill>
                            <a:srgbClr val="1B2B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8,975</a:t>
                      </a:r>
                      <a:endParaRPr lang="en-US" sz="8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3B1C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80" dirty="0">
                          <a:solidFill>
                            <a:srgbClr val="1B2B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4,187</a:t>
                      </a:r>
                      <a:endParaRPr lang="en-US" sz="8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D7E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80" dirty="0">
                          <a:solidFill>
                            <a:srgbClr val="C9CFD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8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80" dirty="0">
                          <a:solidFill>
                            <a:srgbClr val="C9CFD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8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80" dirty="0">
                          <a:solidFill>
                            <a:srgbClr val="1B2B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3,856</a:t>
                      </a:r>
                      <a:endParaRPr lang="en-US" sz="8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3D9E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80" dirty="0">
                          <a:solidFill>
                            <a:srgbClr val="1B2B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4,085</a:t>
                      </a:r>
                      <a:endParaRPr lang="en-US" sz="8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D7E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80" dirty="0">
                          <a:solidFill>
                            <a:srgbClr val="C9CFD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8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26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0B33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2012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80" dirty="0">
                          <a:solidFill>
                            <a:srgbClr val="1B2B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8,661</a:t>
                      </a:r>
                      <a:endParaRPr lang="en-US" sz="8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7B4C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8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13,039</a:t>
                      </a:r>
                      <a:endParaRPr lang="en-US" sz="8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092A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80" dirty="0">
                          <a:solidFill>
                            <a:srgbClr val="C9CFD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8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80" dirty="0">
                          <a:solidFill>
                            <a:srgbClr val="1B2B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522</a:t>
                      </a:r>
                      <a:endParaRPr lang="en-US" sz="8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8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15,078</a:t>
                      </a:r>
                      <a:endParaRPr lang="en-US" sz="8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6829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8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13,982</a:t>
                      </a:r>
                      <a:endParaRPr lang="en-US" sz="8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8BA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8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12,532</a:t>
                      </a:r>
                      <a:endParaRPr lang="en-US" sz="8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696A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80" dirty="0">
                          <a:solidFill>
                            <a:srgbClr val="1B2B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8,614</a:t>
                      </a:r>
                      <a:endParaRPr lang="en-US" sz="8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8B4C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80" dirty="0">
                          <a:solidFill>
                            <a:srgbClr val="1B2B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4,921</a:t>
                      </a:r>
                      <a:endParaRPr lang="en-US" sz="8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6D1D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8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14,710</a:t>
                      </a:r>
                      <a:endParaRPr lang="en-US" sz="8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85A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80" dirty="0">
                          <a:solidFill>
                            <a:srgbClr val="C9CFD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8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80" dirty="0">
                          <a:solidFill>
                            <a:srgbClr val="1B2B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5,908</a:t>
                      </a:r>
                      <a:endParaRPr lang="en-US" sz="8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AC9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26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0B33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2013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8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25,728</a:t>
                      </a:r>
                      <a:endParaRPr lang="en-US" sz="8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729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80" dirty="0">
                          <a:solidFill>
                            <a:srgbClr val="C9CFD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8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80" dirty="0">
                          <a:solidFill>
                            <a:srgbClr val="C9CFD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8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8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17,243</a:t>
                      </a:r>
                      <a:endParaRPr lang="en-US" sz="8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729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80" dirty="0">
                          <a:solidFill>
                            <a:srgbClr val="1B2B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2,125</a:t>
                      </a:r>
                      <a:endParaRPr lang="en-US" sz="8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7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80" dirty="0">
                          <a:solidFill>
                            <a:srgbClr val="1B2B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10,072</a:t>
                      </a:r>
                      <a:endParaRPr lang="en-US" sz="8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5A9B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80" dirty="0">
                          <a:solidFill>
                            <a:srgbClr val="C9CFD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8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80" dirty="0">
                          <a:solidFill>
                            <a:srgbClr val="1B2B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4,750</a:t>
                      </a:r>
                      <a:endParaRPr lang="en-US" sz="8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D2D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80" dirty="0">
                          <a:solidFill>
                            <a:srgbClr val="1B2B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4,745</a:t>
                      </a:r>
                      <a:endParaRPr lang="en-US" sz="8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D2D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80" dirty="0">
                          <a:solidFill>
                            <a:srgbClr val="C9CFD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8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80" dirty="0">
                          <a:solidFill>
                            <a:srgbClr val="C9CFD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8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80" dirty="0">
                          <a:solidFill>
                            <a:srgbClr val="C9CFD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8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26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0B33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2014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80" dirty="0">
                          <a:solidFill>
                            <a:srgbClr val="1B2B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7,215</a:t>
                      </a:r>
                      <a:endParaRPr lang="en-US" sz="8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BFC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8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12,010</a:t>
                      </a:r>
                      <a:endParaRPr lang="en-US" sz="8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D9AB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8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23,892</a:t>
                      </a:r>
                      <a:endParaRPr lang="en-US" sz="8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729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8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15,687</a:t>
                      </a:r>
                      <a:endParaRPr lang="en-US" sz="8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7D9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80" dirty="0">
                          <a:solidFill>
                            <a:srgbClr val="1B2B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4,901</a:t>
                      </a:r>
                      <a:endParaRPr lang="en-US" sz="8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6D1D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80" dirty="0">
                          <a:solidFill>
                            <a:srgbClr val="1B2B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1,779</a:t>
                      </a:r>
                      <a:endParaRPr lang="en-US" sz="8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9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80" dirty="0">
                          <a:solidFill>
                            <a:srgbClr val="1B2B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6,954</a:t>
                      </a:r>
                      <a:endParaRPr lang="en-US" sz="8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CC1D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8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13,009</a:t>
                      </a:r>
                      <a:endParaRPr lang="en-US" sz="8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092A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80" dirty="0">
                          <a:solidFill>
                            <a:srgbClr val="1B2B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6,593</a:t>
                      </a:r>
                      <a:endParaRPr lang="en-US" sz="8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1C4D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80" dirty="0">
                          <a:solidFill>
                            <a:srgbClr val="C9CFD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8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80" dirty="0">
                          <a:solidFill>
                            <a:srgbClr val="C9CFD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8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80" dirty="0">
                          <a:solidFill>
                            <a:srgbClr val="C9CFD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8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26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0B33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2015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80" dirty="0">
                          <a:solidFill>
                            <a:srgbClr val="1B2B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2,847</a:t>
                      </a:r>
                      <a:endParaRPr lang="en-US" sz="8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E1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8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13,272</a:t>
                      </a:r>
                      <a:endParaRPr lang="en-US" sz="8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D90A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80" dirty="0">
                          <a:solidFill>
                            <a:srgbClr val="1B2B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5,430</a:t>
                      </a:r>
                      <a:endParaRPr lang="en-US" sz="8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0CDD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80" dirty="0">
                          <a:solidFill>
                            <a:srgbClr val="1B2B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673</a:t>
                      </a:r>
                      <a:endParaRPr lang="en-US" sz="8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2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8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11,837</a:t>
                      </a:r>
                      <a:endParaRPr lang="en-US" sz="8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F9BB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80" dirty="0">
                          <a:solidFill>
                            <a:srgbClr val="1B2B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2,924</a:t>
                      </a:r>
                      <a:endParaRPr lang="en-US" sz="8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0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80" dirty="0">
                          <a:solidFill>
                            <a:srgbClr val="1B2B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8,250</a:t>
                      </a:r>
                      <a:endParaRPr lang="en-US" sz="8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CB7C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80" dirty="0">
                          <a:solidFill>
                            <a:srgbClr val="1B2B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4,247</a:t>
                      </a:r>
                      <a:endParaRPr lang="en-US" sz="8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D6E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80" dirty="0">
                          <a:solidFill>
                            <a:srgbClr val="C9CFD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8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80" dirty="0">
                          <a:solidFill>
                            <a:srgbClr val="C9CFD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8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80" dirty="0">
                          <a:solidFill>
                            <a:srgbClr val="C9CFD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8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80" dirty="0">
                          <a:solidFill>
                            <a:srgbClr val="C9CFD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8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526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0B33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2016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8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22,308</a:t>
                      </a:r>
                      <a:endParaRPr lang="en-US" sz="8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729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80" dirty="0">
                          <a:solidFill>
                            <a:srgbClr val="1B2B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5,498</a:t>
                      </a:r>
                      <a:endParaRPr lang="en-US" sz="8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FCCD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80" dirty="0">
                          <a:solidFill>
                            <a:srgbClr val="1B2B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4,660</a:t>
                      </a:r>
                      <a:endParaRPr lang="en-US" sz="8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9D3D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80" dirty="0">
                          <a:solidFill>
                            <a:srgbClr val="C9CFD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8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80" dirty="0">
                          <a:solidFill>
                            <a:srgbClr val="1B2B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5,070</a:t>
                      </a:r>
                      <a:endParaRPr lang="en-US" sz="8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D0D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80" dirty="0">
                          <a:solidFill>
                            <a:srgbClr val="1B2B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948</a:t>
                      </a:r>
                      <a:endParaRPr lang="en-US" sz="8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0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80" dirty="0">
                          <a:solidFill>
                            <a:srgbClr val="C9CFD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8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80" dirty="0">
                          <a:solidFill>
                            <a:srgbClr val="C9CFD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8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80" dirty="0">
                          <a:solidFill>
                            <a:srgbClr val="1B2B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962</a:t>
                      </a:r>
                      <a:endParaRPr lang="en-US" sz="8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0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80" dirty="0">
                          <a:solidFill>
                            <a:srgbClr val="1B2B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1,485</a:t>
                      </a:r>
                      <a:endParaRPr lang="en-US" sz="8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EB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80" dirty="0">
                          <a:solidFill>
                            <a:srgbClr val="1B2B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2,225</a:t>
                      </a:r>
                      <a:endParaRPr lang="en-US" sz="8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E6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80" dirty="0">
                          <a:solidFill>
                            <a:srgbClr val="C9CFD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8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526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0B33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2017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80" dirty="0">
                          <a:solidFill>
                            <a:srgbClr val="1B2B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1,815</a:t>
                      </a:r>
                      <a:endParaRPr lang="en-US" sz="8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9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80" dirty="0">
                          <a:solidFill>
                            <a:srgbClr val="1B2B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8,263</a:t>
                      </a:r>
                      <a:endParaRPr lang="en-US" sz="8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CB7C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80" dirty="0">
                          <a:solidFill>
                            <a:srgbClr val="C9CFD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8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80" dirty="0">
                          <a:solidFill>
                            <a:srgbClr val="C9CFD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8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80" dirty="0">
                          <a:solidFill>
                            <a:srgbClr val="1B2B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9,424</a:t>
                      </a:r>
                      <a:endParaRPr lang="en-US" sz="8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DAEC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80" dirty="0">
                          <a:solidFill>
                            <a:srgbClr val="C9CFD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8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80" dirty="0">
                          <a:solidFill>
                            <a:srgbClr val="1B2B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8,974</a:t>
                      </a:r>
                      <a:endParaRPr lang="en-US" sz="8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3B1C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80" dirty="0">
                          <a:solidFill>
                            <a:srgbClr val="C9CFD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8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80" dirty="0">
                          <a:solidFill>
                            <a:srgbClr val="1B2B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8,656</a:t>
                      </a:r>
                      <a:endParaRPr lang="en-US" sz="8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7B4C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80" dirty="0">
                          <a:solidFill>
                            <a:srgbClr val="C9CFD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8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80" dirty="0">
                          <a:solidFill>
                            <a:srgbClr val="1B2B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7,327</a:t>
                      </a:r>
                      <a:endParaRPr lang="en-US" sz="8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8BEC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80" dirty="0">
                          <a:solidFill>
                            <a:srgbClr val="1B2B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4,767</a:t>
                      </a:r>
                      <a:endParaRPr lang="en-US" sz="8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D2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526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0B33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A54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80" b="1" dirty="0">
                          <a:solidFill>
                            <a:srgbClr val="0B33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83,718</a:t>
                      </a:r>
                      <a:endParaRPr lang="en-US" sz="8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A54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80" b="1" dirty="0">
                          <a:solidFill>
                            <a:srgbClr val="0B33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71,260</a:t>
                      </a:r>
                      <a:endParaRPr lang="en-US" sz="8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A54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80" b="1" dirty="0">
                          <a:solidFill>
                            <a:srgbClr val="0B33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56,708</a:t>
                      </a:r>
                      <a:endParaRPr lang="en-US" sz="8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A54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80" b="1" dirty="0">
                          <a:solidFill>
                            <a:srgbClr val="0B33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49,998</a:t>
                      </a:r>
                      <a:endParaRPr lang="en-US" sz="8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A54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80" b="1" dirty="0">
                          <a:solidFill>
                            <a:srgbClr val="0B33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48,708</a:t>
                      </a:r>
                      <a:endParaRPr lang="en-US" sz="8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A54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80" b="1" dirty="0">
                          <a:solidFill>
                            <a:srgbClr val="0B33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46,967</a:t>
                      </a:r>
                      <a:endParaRPr lang="en-US" sz="8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A54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80" b="1" dirty="0">
                          <a:solidFill>
                            <a:srgbClr val="0B33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44,727</a:t>
                      </a:r>
                      <a:endParaRPr lang="en-US" sz="8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A54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80" b="1" dirty="0">
                          <a:solidFill>
                            <a:srgbClr val="0B33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40,545</a:t>
                      </a:r>
                      <a:endParaRPr lang="en-US" sz="8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A54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80" b="1" dirty="0">
                          <a:solidFill>
                            <a:srgbClr val="0B33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25,877</a:t>
                      </a:r>
                      <a:endParaRPr lang="en-US" sz="8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A54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80" b="1" dirty="0">
                          <a:solidFill>
                            <a:srgbClr val="0B33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20,051</a:t>
                      </a:r>
                      <a:endParaRPr lang="en-US" sz="8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A54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80" b="1" dirty="0">
                          <a:solidFill>
                            <a:srgbClr val="0B33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13,637</a:t>
                      </a:r>
                      <a:endParaRPr lang="en-US" sz="8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A54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80" b="1" dirty="0">
                          <a:solidFill>
                            <a:srgbClr val="0B33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10,675</a:t>
                      </a:r>
                      <a:endParaRPr lang="en-US" sz="8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A54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6" name="Text 4"/>
          <p:cNvSpPr/>
          <p:nvPr/>
        </p:nvSpPr>
        <p:spPr>
          <a:xfrm>
            <a:off x="457200" y="5870448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Darker cells indicate higher unit volume for that year/category. “–” denotes no recorded sales for that combination. Bottom row = 2010–2017 total units per category (512,871 units overall).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 4  •  REVENUE MIX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11247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B33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Revenue Contribution Rate by Region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 |  ANNUAL SALES PERFORMANCE REPORT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  <p:graphicFrame>
        <p:nvGraphicFramePr>
          <p:cNvPr id="6" name="Chart 0"/>
          <p:cNvGraphicFramePr/>
          <p:nvPr/>
        </p:nvGraphicFramePr>
        <p:xfrm>
          <a:off x="365760" y="1143000"/>
          <a:ext cx="6583680" cy="52578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" name="Shape 4"/>
          <p:cNvSpPr/>
          <p:nvPr/>
        </p:nvSpPr>
        <p:spPr>
          <a:xfrm>
            <a:off x="7223760" y="1143000"/>
            <a:ext cx="4480560" cy="5257800"/>
          </a:xfrm>
          <a:prstGeom prst="roundRect">
            <a:avLst>
              <a:gd name="adj" fmla="val 1633"/>
            </a:avLst>
          </a:prstGeom>
          <a:solidFill>
            <a:srgbClr val="F4F7F9"/>
          </a:solidFill>
          <a:ln w="12700">
            <a:solidFill>
              <a:srgbClr val="E3E9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7498080" y="137160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CONTRIBUTION RANKED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7498080" y="1737360"/>
            <a:ext cx="320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97F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7909560" y="1737360"/>
            <a:ext cx="2331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Sub-Saharan Africa</a:t>
            </a:r>
            <a:endParaRPr lang="en-US" sz="1150" dirty="0"/>
          </a:p>
        </p:txBody>
      </p:sp>
      <p:sp>
        <p:nvSpPr>
          <p:cNvPr id="11" name="Text 8"/>
          <p:cNvSpPr/>
          <p:nvPr/>
        </p:nvSpPr>
        <p:spPr>
          <a:xfrm>
            <a:off x="10332720" y="1737360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50" b="1" dirty="0">
                <a:solidFill>
                  <a:srgbClr val="0B33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28.9%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7498080" y="2286000"/>
            <a:ext cx="320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97F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7909560" y="2286000"/>
            <a:ext cx="2331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Europe</a:t>
            </a:r>
            <a:endParaRPr lang="en-US" sz="1150" dirty="0"/>
          </a:p>
        </p:txBody>
      </p:sp>
      <p:sp>
        <p:nvSpPr>
          <p:cNvPr id="14" name="Text 11"/>
          <p:cNvSpPr/>
          <p:nvPr/>
        </p:nvSpPr>
        <p:spPr>
          <a:xfrm>
            <a:off x="10332720" y="2286000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50" b="1" dirty="0">
                <a:solidFill>
                  <a:srgbClr val="0B33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24.3%</a:t>
            </a:r>
            <a:endParaRPr lang="en-US" sz="1250" dirty="0"/>
          </a:p>
        </p:txBody>
      </p:sp>
      <p:sp>
        <p:nvSpPr>
          <p:cNvPr id="15" name="Text 12"/>
          <p:cNvSpPr/>
          <p:nvPr/>
        </p:nvSpPr>
        <p:spPr>
          <a:xfrm>
            <a:off x="7498080" y="2834640"/>
            <a:ext cx="320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97F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7909560" y="2834640"/>
            <a:ext cx="2331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Asia</a:t>
            </a:r>
            <a:endParaRPr lang="en-US" sz="1150" dirty="0"/>
          </a:p>
        </p:txBody>
      </p:sp>
      <p:sp>
        <p:nvSpPr>
          <p:cNvPr id="17" name="Text 14"/>
          <p:cNvSpPr/>
          <p:nvPr/>
        </p:nvSpPr>
        <p:spPr>
          <a:xfrm>
            <a:off x="10332720" y="2834640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50" b="1" dirty="0">
                <a:solidFill>
                  <a:srgbClr val="0B33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15.5%</a:t>
            </a:r>
            <a:endParaRPr lang="en-US" sz="1250" dirty="0"/>
          </a:p>
        </p:txBody>
      </p:sp>
      <p:sp>
        <p:nvSpPr>
          <p:cNvPr id="18" name="Text 15"/>
          <p:cNvSpPr/>
          <p:nvPr/>
        </p:nvSpPr>
        <p:spPr>
          <a:xfrm>
            <a:off x="7498080" y="3383280"/>
            <a:ext cx="320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97F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7909560" y="3383280"/>
            <a:ext cx="2331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Australia &amp; Oceania</a:t>
            </a:r>
            <a:endParaRPr lang="en-US" sz="1150" dirty="0"/>
          </a:p>
        </p:txBody>
      </p:sp>
      <p:sp>
        <p:nvSpPr>
          <p:cNvPr id="20" name="Text 17"/>
          <p:cNvSpPr/>
          <p:nvPr/>
        </p:nvSpPr>
        <p:spPr>
          <a:xfrm>
            <a:off x="10332720" y="3383280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50" b="1" dirty="0">
                <a:solidFill>
                  <a:srgbClr val="0B33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10.3%</a:t>
            </a:r>
            <a:endParaRPr lang="en-US" sz="1250" dirty="0"/>
          </a:p>
        </p:txBody>
      </p:sp>
      <p:sp>
        <p:nvSpPr>
          <p:cNvPr id="21" name="Text 18"/>
          <p:cNvSpPr/>
          <p:nvPr/>
        </p:nvSpPr>
        <p:spPr>
          <a:xfrm>
            <a:off x="7498080" y="3931920"/>
            <a:ext cx="320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97F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300" dirty="0"/>
          </a:p>
        </p:txBody>
      </p:sp>
      <p:sp>
        <p:nvSpPr>
          <p:cNvPr id="22" name="Text 19"/>
          <p:cNvSpPr/>
          <p:nvPr/>
        </p:nvSpPr>
        <p:spPr>
          <a:xfrm>
            <a:off x="7909560" y="3931920"/>
            <a:ext cx="2331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Middle East &amp; N. Africa</a:t>
            </a:r>
            <a:endParaRPr lang="en-US" sz="1150" dirty="0"/>
          </a:p>
        </p:txBody>
      </p:sp>
      <p:sp>
        <p:nvSpPr>
          <p:cNvPr id="23" name="Text 20"/>
          <p:cNvSpPr/>
          <p:nvPr/>
        </p:nvSpPr>
        <p:spPr>
          <a:xfrm>
            <a:off x="10332720" y="3931920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50" b="1" dirty="0">
                <a:solidFill>
                  <a:srgbClr val="0B33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10.2%</a:t>
            </a:r>
            <a:endParaRPr lang="en-US" sz="1250" dirty="0"/>
          </a:p>
        </p:txBody>
      </p:sp>
      <p:sp>
        <p:nvSpPr>
          <p:cNvPr id="24" name="Text 21"/>
          <p:cNvSpPr/>
          <p:nvPr/>
        </p:nvSpPr>
        <p:spPr>
          <a:xfrm>
            <a:off x="7498080" y="4480560"/>
            <a:ext cx="320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97F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300" dirty="0"/>
          </a:p>
        </p:txBody>
      </p:sp>
      <p:sp>
        <p:nvSpPr>
          <p:cNvPr id="25" name="Text 22"/>
          <p:cNvSpPr/>
          <p:nvPr/>
        </p:nvSpPr>
        <p:spPr>
          <a:xfrm>
            <a:off x="7909560" y="4480560"/>
            <a:ext cx="2331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 America &amp; Carib.</a:t>
            </a:r>
            <a:endParaRPr lang="en-US" sz="1150" dirty="0"/>
          </a:p>
        </p:txBody>
      </p:sp>
      <p:sp>
        <p:nvSpPr>
          <p:cNvPr id="26" name="Text 23"/>
          <p:cNvSpPr/>
          <p:nvPr/>
        </p:nvSpPr>
        <p:spPr>
          <a:xfrm>
            <a:off x="10332720" y="4480560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50" b="1" dirty="0">
                <a:solidFill>
                  <a:srgbClr val="0B33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6.7%</a:t>
            </a:r>
            <a:endParaRPr lang="en-US" sz="1250" dirty="0"/>
          </a:p>
        </p:txBody>
      </p:sp>
      <p:sp>
        <p:nvSpPr>
          <p:cNvPr id="27" name="Text 24"/>
          <p:cNvSpPr/>
          <p:nvPr/>
        </p:nvSpPr>
        <p:spPr>
          <a:xfrm>
            <a:off x="7498080" y="5029200"/>
            <a:ext cx="320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97F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1300" dirty="0"/>
          </a:p>
        </p:txBody>
      </p:sp>
      <p:sp>
        <p:nvSpPr>
          <p:cNvPr id="28" name="Text 25"/>
          <p:cNvSpPr/>
          <p:nvPr/>
        </p:nvSpPr>
        <p:spPr>
          <a:xfrm>
            <a:off x="7909560" y="5029200"/>
            <a:ext cx="2331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North America</a:t>
            </a:r>
            <a:endParaRPr lang="en-US" sz="1150" dirty="0"/>
          </a:p>
        </p:txBody>
      </p:sp>
      <p:sp>
        <p:nvSpPr>
          <p:cNvPr id="29" name="Text 26"/>
          <p:cNvSpPr/>
          <p:nvPr/>
        </p:nvSpPr>
        <p:spPr>
          <a:xfrm>
            <a:off x="10332720" y="5029200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50" b="1" dirty="0">
                <a:solidFill>
                  <a:srgbClr val="0B33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4.1%</a:t>
            </a:r>
            <a:endParaRPr lang="en-US" sz="1250" dirty="0"/>
          </a:p>
        </p:txBody>
      </p:sp>
      <p:sp>
        <p:nvSpPr>
          <p:cNvPr id="30" name="Text 27"/>
          <p:cNvSpPr/>
          <p:nvPr/>
        </p:nvSpPr>
        <p:spPr>
          <a:xfrm>
            <a:off x="7498080" y="5669280"/>
            <a:ext cx="3931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050" i="1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top 2 regions (Sub-Saharan Africa + Europe) account for 53.1% of total company revenue, while the bottom 2 (Central America &amp; Caribbean + North America) contribute just 10.8% combined.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 5  •  VOLUME LEADERS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11247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B33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Top 3 Best-Performing Products by Units Sold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 |  ANNUAL SALES PERFORMANCE REPORT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1371600"/>
            <a:ext cx="3520440" cy="3200400"/>
          </a:xfrm>
          <a:prstGeom prst="roundRect">
            <a:avLst>
              <a:gd name="adj" fmla="val 2857"/>
            </a:avLst>
          </a:prstGeom>
          <a:solidFill>
            <a:srgbClr val="0B3350"/>
          </a:solidFill>
          <a:ln w="12700">
            <a:solidFill>
              <a:srgbClr val="0B33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1714500" y="1691640"/>
            <a:ext cx="1005840" cy="1005840"/>
          </a:xfrm>
          <a:prstGeom prst="ellipse">
            <a:avLst/>
          </a:prstGeom>
          <a:solidFill>
            <a:srgbClr val="F2A54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1714500" y="169164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#1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640080" y="2880360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Cosmetics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640080" y="3337560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83,718 units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40080" y="3767328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BFE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16.3% of total units sold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297680" y="1371600"/>
            <a:ext cx="3520440" cy="3200400"/>
          </a:xfrm>
          <a:prstGeom prst="roundRect">
            <a:avLst>
              <a:gd name="adj" fmla="val 2857"/>
            </a:avLst>
          </a:prstGeom>
          <a:solidFill>
            <a:srgbClr val="F4F7F9"/>
          </a:solidFill>
          <a:ln w="12700">
            <a:solidFill>
              <a:srgbClr val="E3E9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5554980" y="1691640"/>
            <a:ext cx="1005840" cy="100584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5554980" y="169164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#2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4480560" y="2880360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B33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Clothes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4480560" y="3337560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71,260 units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4480560" y="3767328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13.9% of total units sold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8138160" y="1371600"/>
            <a:ext cx="3520440" cy="3200400"/>
          </a:xfrm>
          <a:prstGeom prst="roundRect">
            <a:avLst>
              <a:gd name="adj" fmla="val 2857"/>
            </a:avLst>
          </a:prstGeom>
          <a:solidFill>
            <a:srgbClr val="F4F7F9"/>
          </a:solidFill>
          <a:ln w="12700">
            <a:solidFill>
              <a:srgbClr val="E3E9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9395460" y="1691640"/>
            <a:ext cx="1005840" cy="1005840"/>
          </a:xfrm>
          <a:prstGeom prst="ellipse">
            <a:avLst/>
          </a:prstGeom>
          <a:solidFill>
            <a:srgbClr val="12456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9395460" y="169164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#3</a:t>
            </a:r>
            <a:endParaRPr lang="en-US" sz="2600" dirty="0"/>
          </a:p>
        </p:txBody>
      </p:sp>
      <p:sp>
        <p:nvSpPr>
          <p:cNvPr id="21" name="Text 19"/>
          <p:cNvSpPr/>
          <p:nvPr/>
        </p:nvSpPr>
        <p:spPr>
          <a:xfrm>
            <a:off x="8321040" y="2880360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B33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Beverages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8321040" y="3337560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56,708 units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8321040" y="3767328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11.1% of total units sold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57200" y="4892040"/>
            <a:ext cx="11247120" cy="1417320"/>
          </a:xfrm>
          <a:prstGeom prst="roundRect">
            <a:avLst>
              <a:gd name="adj" fmla="val 5161"/>
            </a:avLst>
          </a:prstGeom>
          <a:solidFill>
            <a:srgbClr val="F4F7F9"/>
          </a:solidFill>
          <a:ln w="12700">
            <a:solidFill>
              <a:srgbClr val="E3E9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777240" y="5074920"/>
            <a:ext cx="10607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25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Combined, these three categories moved </a:t>
            </a:r>
            <a:r>
              <a:rPr lang="en-US" sz="1250" b="1" dirty="0">
                <a:solidFill>
                  <a:srgbClr val="0B33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211,686 units</a:t>
            </a:r>
            <a:r>
              <a:rPr lang="en-US" sz="125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</a:t>
            </a:r>
            <a:r>
              <a:rPr lang="en-US" sz="1250" b="1" dirty="0">
                <a:solidFill>
                  <a:srgbClr val="0B33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41.3% of all units sold</a:t>
            </a:r>
            <a:r>
              <a:rPr lang="en-US" sz="125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across the 12-category catalog — out of 512,871 total units in the sample. Cosmetics alone outsold the entire bottom five categories combined, making it the clearest priority for inventory and marketing investment.</a:t>
            </a:r>
            <a:endParaRPr lang="en-US" sz="12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 6  •  CATEGORY PROFITABILITY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11247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B33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Total Profit &amp; Profit Margin by Item Type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 |  ANNUAL SALES PERFORMANCE REPORT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  <p:graphicFrame>
        <p:nvGraphicFramePr>
          <p:cNvPr id="6" name="Chart 0"/>
          <p:cNvGraphicFramePr/>
          <p:nvPr/>
        </p:nvGraphicFramePr>
        <p:xfrm>
          <a:off x="457200" y="1234440"/>
          <a:ext cx="11247120" cy="47091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" name="Text 4"/>
          <p:cNvSpPr/>
          <p:nvPr/>
        </p:nvSpPr>
        <p:spPr>
          <a:xfrm>
            <a:off x="457200" y="6053328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Bars = total profit generated by category (left axis). Line = profit margin, i.e. profit as a share of that category’s revenue (right axis).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 7  •  PROFIT TREND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11247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B33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Average Amount of Profit Achieved Annually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 |  ANNUAL SALES PERFORMANCE REPORT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  <p:graphicFrame>
        <p:nvGraphicFramePr>
          <p:cNvPr id="6" name="Chart 0"/>
          <p:cNvGraphicFramePr/>
          <p:nvPr/>
        </p:nvGraphicFramePr>
        <p:xfrm>
          <a:off x="457200" y="1234440"/>
          <a:ext cx="7863840" cy="47091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" name="Shape 4"/>
          <p:cNvSpPr/>
          <p:nvPr/>
        </p:nvSpPr>
        <p:spPr>
          <a:xfrm>
            <a:off x="960120" y="3071264"/>
            <a:ext cx="7040880" cy="0"/>
          </a:xfrm>
          <a:prstGeom prst="line">
            <a:avLst/>
          </a:prstGeom>
          <a:noFill/>
          <a:ln w="19050">
            <a:solidFill>
              <a:srgbClr val="C0392B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6400800" y="2796944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Avg: $5.52M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8549640" y="1234440"/>
            <a:ext cx="3154680" cy="4709160"/>
          </a:xfrm>
          <a:prstGeom prst="roundRect">
            <a:avLst>
              <a:gd name="adj" fmla="val 2319"/>
            </a:avLst>
          </a:prstGeom>
          <a:solidFill>
            <a:srgbClr val="F4F7F9"/>
          </a:solidFill>
          <a:ln w="12700">
            <a:solidFill>
              <a:srgbClr val="E3E9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8823960" y="1463040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ABOVE vs. BELOW AVERAGE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8823960" y="178308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B33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$5.52M</a:t>
            </a:r>
            <a:endParaRPr lang="en-US" sz="2400" dirty="0"/>
          </a:p>
        </p:txBody>
      </p:sp>
      <p:sp>
        <p:nvSpPr>
          <p:cNvPr id="12" name="Text 9"/>
          <p:cNvSpPr/>
          <p:nvPr/>
        </p:nvSpPr>
        <p:spPr>
          <a:xfrm>
            <a:off x="8823960" y="2240280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annual profit, 2010–2017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8823960" y="2651760"/>
            <a:ext cx="2606040" cy="0"/>
          </a:xfrm>
          <a:prstGeom prst="line">
            <a:avLst/>
          </a:prstGeom>
          <a:noFill/>
          <a:ln w="12700">
            <a:solidFill>
              <a:srgbClr val="E3E9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8823960" y="2834640"/>
            <a:ext cx="260604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1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Above average: </a:t>
            </a:r>
            <a:r>
              <a:rPr lang="en-US" sz="115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2010, 2012, 2013, 2014
</a:t>
            </a:r>
            <a:r>
              <a:rPr lang="en-US" sz="1150" b="1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Below average: </a:t>
            </a:r>
            <a:r>
              <a:rPr lang="en-US" sz="115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2011, 2015, 2016, 2017
2012 was the standout year at $9.2M — 67% above the 8-year average — while 2011 fell to just $2.7M, the weakest year on record.</a:t>
            </a:r>
            <a:endParaRPr lang="en-US" sz="11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 8  •  COUNTRY PERFORMANCE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11247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B33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Top 4 &amp; Bottom 4 Countries by Revenue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 |  ANNUAL SALES PERFORMANCE REPORT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1234440"/>
            <a:ext cx="5394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4 COUNTRIES</a:t>
            </a:r>
            <a:endParaRPr lang="en-US" sz="1200" dirty="0"/>
          </a:p>
        </p:txBody>
      </p:sp>
      <p:graphicFrame>
        <p:nvGraphicFramePr>
          <p:cNvPr id="7" name="Chart 0"/>
          <p:cNvGraphicFramePr/>
          <p:nvPr/>
        </p:nvGraphicFramePr>
        <p:xfrm>
          <a:off x="457200" y="1572768"/>
          <a:ext cx="5394960" cy="21488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8" name="Text 5"/>
          <p:cNvSpPr/>
          <p:nvPr/>
        </p:nvSpPr>
        <p:spPr>
          <a:xfrm>
            <a:off x="457200" y="3977640"/>
            <a:ext cx="5394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BOTTOM 4 COUNTRIES</a:t>
            </a:r>
            <a:endParaRPr lang="en-US" sz="1200" dirty="0"/>
          </a:p>
        </p:txBody>
      </p:sp>
      <p:graphicFrame>
        <p:nvGraphicFramePr>
          <p:cNvPr id="9" name="Chart 1"/>
          <p:cNvGraphicFramePr/>
          <p:nvPr/>
        </p:nvGraphicFramePr>
        <p:xfrm>
          <a:off x="457200" y="4315968"/>
          <a:ext cx="5394960" cy="18288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0" name="Shape 6"/>
          <p:cNvSpPr/>
          <p:nvPr/>
        </p:nvSpPr>
        <p:spPr>
          <a:xfrm>
            <a:off x="6172200" y="1234440"/>
            <a:ext cx="5532120" cy="4937760"/>
          </a:xfrm>
          <a:prstGeom prst="roundRect">
            <a:avLst>
              <a:gd name="adj" fmla="val 1481"/>
            </a:avLst>
          </a:prstGeom>
          <a:solidFill>
            <a:srgbClr val="0B335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7"/>
          <p:cNvSpPr/>
          <p:nvPr/>
        </p:nvSpPr>
        <p:spPr>
          <a:xfrm>
            <a:off x="6492240" y="1508760"/>
            <a:ext cx="4892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SCALE OF THE GAP</a:t>
            </a:r>
            <a:endParaRPr lang="en-US" sz="1100" dirty="0"/>
          </a:p>
        </p:txBody>
      </p:sp>
      <p:sp>
        <p:nvSpPr>
          <p:cNvPr id="12" name="Text 8"/>
          <p:cNvSpPr/>
          <p:nvPr/>
        </p:nvSpPr>
        <p:spPr>
          <a:xfrm>
            <a:off x="6492240" y="1874520"/>
            <a:ext cx="489204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Honduras</a:t>
            </a:r>
            <a:r>
              <a:rPr lang="en-US" sz="1200" dirty="0">
                <a:solidFill>
                  <a:srgbClr val="BFE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is the single highest-revenue country at $6.34M, narrowly ahead of </a:t>
            </a: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Myanmar</a:t>
            </a:r>
            <a:r>
              <a:rPr lang="en-US" sz="1200" dirty="0">
                <a:solidFill>
                  <a:srgbClr val="BFE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and </a:t>
            </a: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Djibouti</a:t>
            </a:r>
            <a:r>
              <a:rPr lang="en-US" sz="1200" dirty="0">
                <a:solidFill>
                  <a:srgbClr val="BFE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
By contrast, the four lowest-revenue countries — led by </a:t>
            </a: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Kuwait</a:t>
            </a:r>
            <a:r>
              <a:rPr lang="en-US" sz="1200" dirty="0">
                <a:solidFill>
                  <a:srgbClr val="BFE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at just $4,870 — together generated only $70.7K, versus $24.4M from the top 4.
That is a roughly </a:t>
            </a:r>
            <a:r>
              <a:rPr lang="en-US" sz="1200" b="1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1,300×</a:t>
            </a:r>
            <a:r>
              <a:rPr lang="en-US" sz="1200" dirty="0">
                <a:solidFill>
                  <a:srgbClr val="BFE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gap between the strongest and weakest markets in this sample, highlighting how concentrated Digital Echoes’ revenue is in a small set of countries.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 9  •  GROWTH ANALYSIS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11247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B33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Year-on-Year Revenue Growth Rate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 |  ANNUAL SALES PERFORMANCE REPORT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  <p:graphicFrame>
        <p:nvGraphicFramePr>
          <p:cNvPr id="6" name="Chart 0"/>
          <p:cNvGraphicFramePr/>
          <p:nvPr/>
        </p:nvGraphicFramePr>
        <p:xfrm>
          <a:off x="457200" y="1234440"/>
          <a:ext cx="11247120" cy="4343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" name="Shape 4"/>
          <p:cNvSpPr/>
          <p:nvPr/>
        </p:nvSpPr>
        <p:spPr>
          <a:xfrm>
            <a:off x="457200" y="5742432"/>
            <a:ext cx="11247120" cy="658368"/>
          </a:xfrm>
          <a:prstGeom prst="roundRect">
            <a:avLst>
              <a:gd name="adj" fmla="val 11111"/>
            </a:avLst>
          </a:prstGeom>
          <a:solidFill>
            <a:srgbClr val="F4F7F9"/>
          </a:solidFill>
          <a:ln w="12700">
            <a:solidFill>
              <a:srgbClr val="E3E9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731520" y="5742432"/>
            <a:ext cx="10698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20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2012 surged </a:t>
            </a:r>
            <a:r>
              <a:rPr lang="en-US" sz="1200" b="1" dirty="0">
                <a:solidFill>
                  <a:srgbClr val="2E8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+186.6%</a:t>
            </a:r>
            <a:r>
              <a:rPr lang="en-US" sz="120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over 2011 — the strongest growth year — but revenue then contracted for three straight years (2013–2015) before stabilizing and turning positive again in 2017 (</a:t>
            </a:r>
            <a:r>
              <a:rPr lang="en-US" sz="1200" b="1" dirty="0">
                <a:solidFill>
                  <a:srgbClr val="2E8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+8.1%</a:t>
            </a:r>
            <a:r>
              <a:rPr lang="en-US" sz="120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). Growth has been highly volatile rather than steady.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 10  •  ORDER ECONOMICS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11247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B33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Average Order Value (AOV) by Year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 |  ANNUAL SALES PERFORMANCE REPORT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  <p:graphicFrame>
        <p:nvGraphicFramePr>
          <p:cNvPr id="6" name="Chart 0"/>
          <p:cNvGraphicFramePr/>
          <p:nvPr/>
        </p:nvGraphicFramePr>
        <p:xfrm>
          <a:off x="457200" y="1234440"/>
          <a:ext cx="7863840" cy="47091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" name="Shape 4"/>
          <p:cNvSpPr/>
          <p:nvPr/>
        </p:nvSpPr>
        <p:spPr>
          <a:xfrm>
            <a:off x="8549640" y="1234440"/>
            <a:ext cx="3154680" cy="4709160"/>
          </a:xfrm>
          <a:prstGeom prst="roundRect">
            <a:avLst>
              <a:gd name="adj" fmla="val 2319"/>
            </a:avLst>
          </a:prstGeom>
          <a:solidFill>
            <a:srgbClr val="F4F7F9"/>
          </a:solidFill>
          <a:ln w="12700">
            <a:solidFill>
              <a:srgbClr val="E3E9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8823960" y="1463040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AOV DEFINED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8823960" y="1783080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100" i="1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Revenue ÷ Number of Orders, calculated each year.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8823960" y="2331720"/>
            <a:ext cx="2606040" cy="0"/>
          </a:xfrm>
          <a:prstGeom prst="line">
            <a:avLst/>
          </a:prstGeom>
          <a:noFill/>
          <a:ln w="12700">
            <a:solidFill>
              <a:srgbClr val="E3E9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8823960" y="2514600"/>
            <a:ext cx="260604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150" b="1" dirty="0">
                <a:solidFill>
                  <a:srgbClr val="0B33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 AOV: </a:t>
            </a:r>
            <a:r>
              <a:rPr lang="en-US" sz="115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2010 at $1.92M
</a:t>
            </a:r>
            <a:r>
              <a:rPr lang="en-US" sz="1150" b="1" dirty="0">
                <a:solidFill>
                  <a:srgbClr val="0B33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Lowest AOV: </a:t>
            </a:r>
            <a:r>
              <a:rPr lang="en-US" sz="115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2011 at $0.93M
AOV recovered to $1.67M in 2017, its second-highest point in the series — encouraging given 2017 also returned to positive revenue growth (KPI 9).</a:t>
            </a:r>
            <a:endParaRPr lang="en-US" sz="11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SYNTHESIS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11247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B33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Insights &amp; Recommendations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 |  ANNUAL SALES PERFORMANCE REPORT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1234440"/>
            <a:ext cx="5440680" cy="1417320"/>
          </a:xfrm>
          <a:prstGeom prst="roundRect">
            <a:avLst>
              <a:gd name="adj" fmla="val 5161"/>
            </a:avLst>
          </a:prstGeom>
          <a:solidFill>
            <a:srgbClr val="F4F7F9"/>
          </a:solidFill>
          <a:ln w="12700">
            <a:solidFill>
              <a:srgbClr val="E3E9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685800" y="1463040"/>
            <a:ext cx="365760" cy="365760"/>
          </a:xfrm>
          <a:prstGeom prst="ellipse">
            <a:avLst/>
          </a:prstGeom>
          <a:solidFill>
            <a:srgbClr val="F2A54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685800" y="14630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B33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188720" y="1399032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B33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Regional concentration is a growth risk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1188720" y="1837944"/>
            <a:ext cx="4480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350"/>
              </a:lnSpc>
              <a:buNone/>
            </a:pPr>
            <a:r>
              <a:rPr lang="en-US" sz="103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Sub-Saharan Africa and Europe supply 53% of revenue while North America contributes just 4%. Diversify go-to-market investment toward underpenetrated regions.</a:t>
            </a:r>
            <a:endParaRPr lang="en-US" sz="1030" dirty="0"/>
          </a:p>
        </p:txBody>
      </p:sp>
      <p:sp>
        <p:nvSpPr>
          <p:cNvPr id="11" name="Shape 9"/>
          <p:cNvSpPr/>
          <p:nvPr/>
        </p:nvSpPr>
        <p:spPr>
          <a:xfrm>
            <a:off x="6263640" y="1234440"/>
            <a:ext cx="5440680" cy="1417320"/>
          </a:xfrm>
          <a:prstGeom prst="roundRect">
            <a:avLst>
              <a:gd name="adj" fmla="val 5161"/>
            </a:avLst>
          </a:prstGeom>
          <a:solidFill>
            <a:srgbClr val="F4F7F9"/>
          </a:solidFill>
          <a:ln w="12700">
            <a:solidFill>
              <a:srgbClr val="E3E9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6492240" y="1463040"/>
            <a:ext cx="365760" cy="365760"/>
          </a:xfrm>
          <a:prstGeom prst="ellipse">
            <a:avLst/>
          </a:prstGeom>
          <a:solidFill>
            <a:srgbClr val="F2A54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6492240" y="14630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B33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995160" y="1399032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B33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Cosmetics &amp; Clothes are the profit engines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6995160" y="1837944"/>
            <a:ext cx="4480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350"/>
              </a:lnSpc>
              <a:buNone/>
            </a:pPr>
            <a:r>
              <a:rPr lang="en-US" sz="103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Cosmetics leads on both volume (83.7K units) and profit ($14.6M); Clothes carries the highest margin (67.2%). Protect stock availability and shelf space for these two.</a:t>
            </a:r>
            <a:endParaRPr lang="en-US" sz="1030" dirty="0"/>
          </a:p>
        </p:txBody>
      </p:sp>
      <p:sp>
        <p:nvSpPr>
          <p:cNvPr id="16" name="Shape 14"/>
          <p:cNvSpPr/>
          <p:nvPr/>
        </p:nvSpPr>
        <p:spPr>
          <a:xfrm>
            <a:off x="457200" y="2880360"/>
            <a:ext cx="5440680" cy="1417320"/>
          </a:xfrm>
          <a:prstGeom prst="roundRect">
            <a:avLst>
              <a:gd name="adj" fmla="val 5161"/>
            </a:avLst>
          </a:prstGeom>
          <a:solidFill>
            <a:srgbClr val="F4F7F9"/>
          </a:solidFill>
          <a:ln w="12700">
            <a:solidFill>
              <a:srgbClr val="E3E9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685800" y="3108960"/>
            <a:ext cx="365760" cy="365760"/>
          </a:xfrm>
          <a:prstGeom prst="ellipse">
            <a:avLst/>
          </a:prstGeom>
          <a:solidFill>
            <a:srgbClr val="F2A54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685800" y="31089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B33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188720" y="3044952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B33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Low-margin categories need review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1188720" y="3483864"/>
            <a:ext cx="4480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350"/>
              </a:lnSpc>
              <a:buNone/>
            </a:pPr>
            <a:r>
              <a:rPr lang="en-US" sz="103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Meat (13.6%) and Office Supplies (19.4%) trail well below the 32.2% blended margin. Investigate supplier costs and pricing for these lines.</a:t>
            </a:r>
            <a:endParaRPr lang="en-US" sz="1030" dirty="0"/>
          </a:p>
        </p:txBody>
      </p:sp>
      <p:sp>
        <p:nvSpPr>
          <p:cNvPr id="21" name="Shape 19"/>
          <p:cNvSpPr/>
          <p:nvPr/>
        </p:nvSpPr>
        <p:spPr>
          <a:xfrm>
            <a:off x="6263640" y="2880360"/>
            <a:ext cx="5440680" cy="1417320"/>
          </a:xfrm>
          <a:prstGeom prst="roundRect">
            <a:avLst>
              <a:gd name="adj" fmla="val 5161"/>
            </a:avLst>
          </a:prstGeom>
          <a:solidFill>
            <a:srgbClr val="F4F7F9"/>
          </a:solidFill>
          <a:ln w="12700">
            <a:solidFill>
              <a:srgbClr val="E3E9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6492240" y="3108960"/>
            <a:ext cx="365760" cy="365760"/>
          </a:xfrm>
          <a:prstGeom prst="ellipse">
            <a:avLst/>
          </a:prstGeom>
          <a:solidFill>
            <a:srgbClr val="F2A54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6492240" y="31089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B33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995160" y="3044952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B33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Growth has been volatile, not steady</a:t>
            </a:r>
            <a:endParaRPr lang="en-US" sz="1350" dirty="0"/>
          </a:p>
        </p:txBody>
      </p:sp>
      <p:sp>
        <p:nvSpPr>
          <p:cNvPr id="25" name="Text 23"/>
          <p:cNvSpPr/>
          <p:nvPr/>
        </p:nvSpPr>
        <p:spPr>
          <a:xfrm>
            <a:off x="6995160" y="3483864"/>
            <a:ext cx="4480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350"/>
              </a:lnSpc>
              <a:buNone/>
            </a:pPr>
            <a:r>
              <a:rPr lang="en-US" sz="103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+186.6% spike in 2012 was followed by three consecutive years of decline. Build forecasting around demand drivers rather than a flat trend line.</a:t>
            </a:r>
            <a:endParaRPr lang="en-US" sz="1030" dirty="0"/>
          </a:p>
        </p:txBody>
      </p:sp>
      <p:sp>
        <p:nvSpPr>
          <p:cNvPr id="26" name="Shape 24"/>
          <p:cNvSpPr/>
          <p:nvPr/>
        </p:nvSpPr>
        <p:spPr>
          <a:xfrm>
            <a:off x="457200" y="4526280"/>
            <a:ext cx="5440680" cy="1417320"/>
          </a:xfrm>
          <a:prstGeom prst="roundRect">
            <a:avLst>
              <a:gd name="adj" fmla="val 5161"/>
            </a:avLst>
          </a:prstGeom>
          <a:solidFill>
            <a:srgbClr val="F4F7F9"/>
          </a:solidFill>
          <a:ln w="12700">
            <a:solidFill>
              <a:srgbClr val="E3E9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685800" y="4754880"/>
            <a:ext cx="365760" cy="365760"/>
          </a:xfrm>
          <a:prstGeom prst="ellipse">
            <a:avLst/>
          </a:prstGeom>
          <a:solidFill>
            <a:srgbClr val="F2A54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685800" y="47548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B33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1188720" y="4690872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B33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handful of countries carry outsized weight</a:t>
            </a:r>
            <a:endParaRPr lang="en-US" sz="1350" dirty="0"/>
          </a:p>
        </p:txBody>
      </p:sp>
      <p:sp>
        <p:nvSpPr>
          <p:cNvPr id="30" name="Text 28"/>
          <p:cNvSpPr/>
          <p:nvPr/>
        </p:nvSpPr>
        <p:spPr>
          <a:xfrm>
            <a:off x="1188720" y="5129784"/>
            <a:ext cx="4480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350"/>
              </a:lnSpc>
              <a:buNone/>
            </a:pPr>
            <a:r>
              <a:rPr lang="en-US" sz="103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top 4 countries out-earn the bottom 4 by roughly 1,300×. Assess whether top markets are at capacity, and pilot expansion in adjacent geographies.</a:t>
            </a:r>
            <a:endParaRPr lang="en-US" sz="1030" dirty="0"/>
          </a:p>
        </p:txBody>
      </p:sp>
      <p:sp>
        <p:nvSpPr>
          <p:cNvPr id="31" name="Shape 29"/>
          <p:cNvSpPr/>
          <p:nvPr/>
        </p:nvSpPr>
        <p:spPr>
          <a:xfrm>
            <a:off x="6263640" y="4526280"/>
            <a:ext cx="5440680" cy="1417320"/>
          </a:xfrm>
          <a:prstGeom prst="roundRect">
            <a:avLst>
              <a:gd name="adj" fmla="val 5161"/>
            </a:avLst>
          </a:prstGeom>
          <a:solidFill>
            <a:srgbClr val="F4F7F9"/>
          </a:solidFill>
          <a:ln w="12700">
            <a:solidFill>
              <a:srgbClr val="E3E9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6492240" y="4754880"/>
            <a:ext cx="365760" cy="365760"/>
          </a:xfrm>
          <a:prstGeom prst="ellipse">
            <a:avLst/>
          </a:prstGeom>
          <a:solidFill>
            <a:srgbClr val="F2A54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6492240" y="47548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B33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6995160" y="4690872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B33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Order value is recovering</a:t>
            </a:r>
            <a:endParaRPr lang="en-US" sz="1350" dirty="0"/>
          </a:p>
        </p:txBody>
      </p:sp>
      <p:sp>
        <p:nvSpPr>
          <p:cNvPr id="35" name="Text 33"/>
          <p:cNvSpPr/>
          <p:nvPr/>
        </p:nvSpPr>
        <p:spPr>
          <a:xfrm>
            <a:off x="6995160" y="5129784"/>
            <a:ext cx="4480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350"/>
              </a:lnSpc>
              <a:buNone/>
            </a:pPr>
            <a:r>
              <a:rPr lang="en-US" sz="103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AOV climbed back to $1.67M in 2017 alongside a return to revenue growth — a signal worth monitoring into the next fiscal year.</a:t>
            </a:r>
            <a:endParaRPr lang="en-US" sz="103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>
            <a:extLst>
              <a:ext uri="{FF2B5EF4-FFF2-40B4-BE49-F238E27FC236}">
                <a16:creationId xmlns:a16="http://schemas.microsoft.com/office/drawing/2014/main" id="{62DC64DC-166C-A420-A3BC-2EB5A3830390}"/>
              </a:ext>
            </a:extLst>
          </p:cNvPr>
          <p:cNvSpPr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SYNTHESIS</a:t>
            </a:r>
            <a:endParaRPr lang="en-US" sz="1200" dirty="0"/>
          </a:p>
        </p:txBody>
      </p:sp>
      <p:sp>
        <p:nvSpPr>
          <p:cNvPr id="5" name="Text 1">
            <a:extLst>
              <a:ext uri="{FF2B5EF4-FFF2-40B4-BE49-F238E27FC236}">
                <a16:creationId xmlns:a16="http://schemas.microsoft.com/office/drawing/2014/main" id="{66858979-A8B9-EC55-3517-299FAF71AAF2}"/>
              </a:ext>
            </a:extLst>
          </p:cNvPr>
          <p:cNvSpPr/>
          <p:nvPr/>
        </p:nvSpPr>
        <p:spPr>
          <a:xfrm>
            <a:off x="457200" y="566928"/>
            <a:ext cx="11247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B33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Recommendations</a:t>
            </a:r>
            <a:endParaRPr lang="en-US" sz="2800" dirty="0"/>
          </a:p>
        </p:txBody>
      </p:sp>
      <p:sp>
        <p:nvSpPr>
          <p:cNvPr id="7" name="Shape 4">
            <a:extLst>
              <a:ext uri="{FF2B5EF4-FFF2-40B4-BE49-F238E27FC236}">
                <a16:creationId xmlns:a16="http://schemas.microsoft.com/office/drawing/2014/main" id="{70D9C0FD-1688-FFF6-3FEB-42CC63BE9891}"/>
              </a:ext>
            </a:extLst>
          </p:cNvPr>
          <p:cNvSpPr/>
          <p:nvPr/>
        </p:nvSpPr>
        <p:spPr>
          <a:xfrm>
            <a:off x="457200" y="1234440"/>
            <a:ext cx="5440680" cy="1417320"/>
          </a:xfrm>
          <a:prstGeom prst="roundRect">
            <a:avLst>
              <a:gd name="adj" fmla="val 5161"/>
            </a:avLst>
          </a:prstGeom>
          <a:solidFill>
            <a:srgbClr val="F4F7F9"/>
          </a:solidFill>
          <a:ln w="12700">
            <a:solidFill>
              <a:srgbClr val="E3E9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5">
            <a:extLst>
              <a:ext uri="{FF2B5EF4-FFF2-40B4-BE49-F238E27FC236}">
                <a16:creationId xmlns:a16="http://schemas.microsoft.com/office/drawing/2014/main" id="{D4CF3E7A-5245-6BBD-A916-68A1BFFE4D8B}"/>
              </a:ext>
            </a:extLst>
          </p:cNvPr>
          <p:cNvSpPr/>
          <p:nvPr/>
        </p:nvSpPr>
        <p:spPr>
          <a:xfrm>
            <a:off x="685800" y="1463040"/>
            <a:ext cx="365760" cy="365760"/>
          </a:xfrm>
          <a:prstGeom prst="ellipse">
            <a:avLst/>
          </a:prstGeom>
          <a:solidFill>
            <a:srgbClr val="F2A541"/>
          </a:solidFill>
          <a:ln/>
        </p:spPr>
        <p:txBody>
          <a:bodyPr/>
          <a:lstStyle/>
          <a:p>
            <a:pPr algn="ctr"/>
            <a:r>
              <a:rPr lang="en-US" sz="1300" dirty="0">
                <a:latin typeface="Cambria" panose="02040503050406030204" pitchFamily="18" charset="0"/>
                <a:ea typeface="Cambria" panose="02040503050406030204" pitchFamily="18" charset="0"/>
              </a:rPr>
              <a:t>1</a:t>
            </a:r>
          </a:p>
        </p:txBody>
      </p:sp>
      <p:sp>
        <p:nvSpPr>
          <p:cNvPr id="11" name="Text 7">
            <a:extLst>
              <a:ext uri="{FF2B5EF4-FFF2-40B4-BE49-F238E27FC236}">
                <a16:creationId xmlns:a16="http://schemas.microsoft.com/office/drawing/2014/main" id="{A8884139-0C34-22F9-EF0C-D5CB6A67E7C1}"/>
              </a:ext>
            </a:extLst>
          </p:cNvPr>
          <p:cNvSpPr/>
          <p:nvPr/>
        </p:nvSpPr>
        <p:spPr>
          <a:xfrm>
            <a:off x="1188720" y="1399032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B33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Investigate collapse</a:t>
            </a:r>
            <a:endParaRPr lang="en-US" sz="1350" dirty="0"/>
          </a:p>
        </p:txBody>
      </p:sp>
      <p:sp>
        <p:nvSpPr>
          <p:cNvPr id="13" name="Text 8">
            <a:extLst>
              <a:ext uri="{FF2B5EF4-FFF2-40B4-BE49-F238E27FC236}">
                <a16:creationId xmlns:a16="http://schemas.microsoft.com/office/drawing/2014/main" id="{F2A4D6D3-C4B1-5620-11E1-3EB7D24E452C}"/>
              </a:ext>
            </a:extLst>
          </p:cNvPr>
          <p:cNvSpPr/>
          <p:nvPr/>
        </p:nvSpPr>
        <p:spPr>
          <a:xfrm>
            <a:off x="1188720" y="1837944"/>
            <a:ext cx="4480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50" dirty="0"/>
              <a:t>Investigate the 2014 to 2016 collapse and identify exactly where the lost volume came from</a:t>
            </a:r>
          </a:p>
        </p:txBody>
      </p:sp>
      <p:sp>
        <p:nvSpPr>
          <p:cNvPr id="15" name="Shape 4">
            <a:extLst>
              <a:ext uri="{FF2B5EF4-FFF2-40B4-BE49-F238E27FC236}">
                <a16:creationId xmlns:a16="http://schemas.microsoft.com/office/drawing/2014/main" id="{7F1F65E3-7D66-09C7-8583-056A6EC38BA6}"/>
              </a:ext>
            </a:extLst>
          </p:cNvPr>
          <p:cNvSpPr/>
          <p:nvPr/>
        </p:nvSpPr>
        <p:spPr>
          <a:xfrm>
            <a:off x="6193766" y="1234440"/>
            <a:ext cx="5440680" cy="1417320"/>
          </a:xfrm>
          <a:prstGeom prst="roundRect">
            <a:avLst>
              <a:gd name="adj" fmla="val 5161"/>
            </a:avLst>
          </a:prstGeom>
          <a:solidFill>
            <a:srgbClr val="F4F7F9"/>
          </a:solidFill>
          <a:ln w="12700">
            <a:solidFill>
              <a:srgbClr val="E3E9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5">
            <a:extLst>
              <a:ext uri="{FF2B5EF4-FFF2-40B4-BE49-F238E27FC236}">
                <a16:creationId xmlns:a16="http://schemas.microsoft.com/office/drawing/2014/main" id="{D675D620-23D3-A94D-1AC0-B61D9D0DB109}"/>
              </a:ext>
            </a:extLst>
          </p:cNvPr>
          <p:cNvSpPr/>
          <p:nvPr/>
        </p:nvSpPr>
        <p:spPr>
          <a:xfrm>
            <a:off x="6422366" y="1463040"/>
            <a:ext cx="365760" cy="365760"/>
          </a:xfrm>
          <a:prstGeom prst="ellipse">
            <a:avLst/>
          </a:prstGeom>
          <a:solidFill>
            <a:srgbClr val="F2A541"/>
          </a:solidFill>
          <a:ln/>
        </p:spPr>
        <p:txBody>
          <a:bodyPr/>
          <a:lstStyle/>
          <a:p>
            <a:pPr algn="ctr"/>
            <a:r>
              <a:rPr lang="en-US" sz="1300" dirty="0">
                <a:latin typeface="Cambria" panose="02040503050406030204" pitchFamily="18" charset="0"/>
                <a:ea typeface="Cambria" panose="02040503050406030204" pitchFamily="18" charset="0"/>
              </a:rPr>
              <a:t>2</a:t>
            </a:r>
          </a:p>
        </p:txBody>
      </p:sp>
      <p:sp>
        <p:nvSpPr>
          <p:cNvPr id="19" name="Text 7">
            <a:extLst>
              <a:ext uri="{FF2B5EF4-FFF2-40B4-BE49-F238E27FC236}">
                <a16:creationId xmlns:a16="http://schemas.microsoft.com/office/drawing/2014/main" id="{B330EA11-35C8-2116-D66C-6399709A7D3B}"/>
              </a:ext>
            </a:extLst>
          </p:cNvPr>
          <p:cNvSpPr/>
          <p:nvPr/>
        </p:nvSpPr>
        <p:spPr>
          <a:xfrm>
            <a:off x="6925286" y="1399032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B33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Development</a:t>
            </a:r>
            <a:endParaRPr lang="en-US" sz="1350" dirty="0"/>
          </a:p>
        </p:txBody>
      </p:sp>
      <p:sp>
        <p:nvSpPr>
          <p:cNvPr id="21" name="Text 8">
            <a:extLst>
              <a:ext uri="{FF2B5EF4-FFF2-40B4-BE49-F238E27FC236}">
                <a16:creationId xmlns:a16="http://schemas.microsoft.com/office/drawing/2014/main" id="{9CD3260D-0807-F601-A179-AE61C53F73AD}"/>
              </a:ext>
            </a:extLst>
          </p:cNvPr>
          <p:cNvSpPr/>
          <p:nvPr/>
        </p:nvSpPr>
        <p:spPr>
          <a:xfrm>
            <a:off x="6925286" y="1837944"/>
            <a:ext cx="4480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50" dirty="0"/>
              <a:t>Develop a regional growth strategy. Regions with high growth revenue contribution could deserve more investments than the regions with stagnant revenue rate</a:t>
            </a:r>
          </a:p>
        </p:txBody>
      </p:sp>
      <p:sp>
        <p:nvSpPr>
          <p:cNvPr id="23" name="Shape 4">
            <a:extLst>
              <a:ext uri="{FF2B5EF4-FFF2-40B4-BE49-F238E27FC236}">
                <a16:creationId xmlns:a16="http://schemas.microsoft.com/office/drawing/2014/main" id="{3002D2F4-1616-B8CC-9D60-B91894A32FAA}"/>
              </a:ext>
            </a:extLst>
          </p:cNvPr>
          <p:cNvSpPr/>
          <p:nvPr/>
        </p:nvSpPr>
        <p:spPr>
          <a:xfrm>
            <a:off x="457200" y="3008376"/>
            <a:ext cx="5440680" cy="1417320"/>
          </a:xfrm>
          <a:prstGeom prst="roundRect">
            <a:avLst>
              <a:gd name="adj" fmla="val 5161"/>
            </a:avLst>
          </a:prstGeom>
          <a:solidFill>
            <a:srgbClr val="F4F7F9"/>
          </a:solidFill>
          <a:ln w="12700">
            <a:solidFill>
              <a:srgbClr val="E3E9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5">
            <a:extLst>
              <a:ext uri="{FF2B5EF4-FFF2-40B4-BE49-F238E27FC236}">
                <a16:creationId xmlns:a16="http://schemas.microsoft.com/office/drawing/2014/main" id="{EC23C2DD-0E3F-BE78-1178-5885399F9E22}"/>
              </a:ext>
            </a:extLst>
          </p:cNvPr>
          <p:cNvSpPr/>
          <p:nvPr/>
        </p:nvSpPr>
        <p:spPr>
          <a:xfrm>
            <a:off x="685800" y="3236976"/>
            <a:ext cx="365760" cy="365760"/>
          </a:xfrm>
          <a:prstGeom prst="ellipse">
            <a:avLst/>
          </a:prstGeom>
          <a:solidFill>
            <a:srgbClr val="F2A541"/>
          </a:solidFill>
          <a:ln/>
        </p:spPr>
        <p:txBody>
          <a:bodyPr/>
          <a:lstStyle/>
          <a:p>
            <a:pPr algn="ctr"/>
            <a:r>
              <a:rPr lang="en-US" sz="1300" dirty="0">
                <a:latin typeface="Cambria" panose="02040503050406030204" pitchFamily="18" charset="0"/>
                <a:ea typeface="Cambria" panose="02040503050406030204" pitchFamily="18" charset="0"/>
              </a:rPr>
              <a:t>3</a:t>
            </a:r>
          </a:p>
        </p:txBody>
      </p:sp>
      <p:sp>
        <p:nvSpPr>
          <p:cNvPr id="27" name="Text 7">
            <a:extLst>
              <a:ext uri="{FF2B5EF4-FFF2-40B4-BE49-F238E27FC236}">
                <a16:creationId xmlns:a16="http://schemas.microsoft.com/office/drawing/2014/main" id="{3E43E592-1C67-E6E3-2298-6DD8675A28D0}"/>
              </a:ext>
            </a:extLst>
          </p:cNvPr>
          <p:cNvSpPr/>
          <p:nvPr/>
        </p:nvSpPr>
        <p:spPr>
          <a:xfrm>
            <a:off x="1188720" y="3172968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B33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Low Contribution </a:t>
            </a:r>
            <a:endParaRPr lang="en-US" sz="1350" dirty="0"/>
          </a:p>
        </p:txBody>
      </p:sp>
      <p:sp>
        <p:nvSpPr>
          <p:cNvPr id="29" name="Text 8">
            <a:extLst>
              <a:ext uri="{FF2B5EF4-FFF2-40B4-BE49-F238E27FC236}">
                <a16:creationId xmlns:a16="http://schemas.microsoft.com/office/drawing/2014/main" id="{EE4E44ED-3B5A-80C4-56FC-F97E22A6C570}"/>
              </a:ext>
            </a:extLst>
          </p:cNvPr>
          <p:cNvSpPr/>
          <p:nvPr/>
        </p:nvSpPr>
        <p:spPr>
          <a:xfrm>
            <a:off x="1188720" y="3611880"/>
            <a:ext cx="4480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50" dirty="0"/>
              <a:t>Items with sustained decrease of revenue contribution should be cross sold or reinvested in marketing</a:t>
            </a:r>
          </a:p>
        </p:txBody>
      </p:sp>
      <p:sp>
        <p:nvSpPr>
          <p:cNvPr id="31" name="Shape 4">
            <a:extLst>
              <a:ext uri="{FF2B5EF4-FFF2-40B4-BE49-F238E27FC236}">
                <a16:creationId xmlns:a16="http://schemas.microsoft.com/office/drawing/2014/main" id="{A59504D0-AE07-DFEE-EE4F-5C14189C1228}"/>
              </a:ext>
            </a:extLst>
          </p:cNvPr>
          <p:cNvSpPr/>
          <p:nvPr/>
        </p:nvSpPr>
        <p:spPr>
          <a:xfrm>
            <a:off x="6193766" y="3008376"/>
            <a:ext cx="5440680" cy="1417320"/>
          </a:xfrm>
          <a:prstGeom prst="roundRect">
            <a:avLst>
              <a:gd name="adj" fmla="val 5161"/>
            </a:avLst>
          </a:prstGeom>
          <a:solidFill>
            <a:srgbClr val="F4F7F9"/>
          </a:solidFill>
          <a:ln w="12700">
            <a:solidFill>
              <a:srgbClr val="E3E9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Shape 5">
            <a:extLst>
              <a:ext uri="{FF2B5EF4-FFF2-40B4-BE49-F238E27FC236}">
                <a16:creationId xmlns:a16="http://schemas.microsoft.com/office/drawing/2014/main" id="{9ABA7C40-908D-5A0C-8EA0-AEFE00F88057}"/>
              </a:ext>
            </a:extLst>
          </p:cNvPr>
          <p:cNvSpPr/>
          <p:nvPr/>
        </p:nvSpPr>
        <p:spPr>
          <a:xfrm>
            <a:off x="6422366" y="3236976"/>
            <a:ext cx="365760" cy="365760"/>
          </a:xfrm>
          <a:prstGeom prst="ellipse">
            <a:avLst/>
          </a:prstGeom>
          <a:solidFill>
            <a:srgbClr val="F2A541"/>
          </a:solidFill>
          <a:ln/>
        </p:spPr>
        <p:txBody>
          <a:bodyPr/>
          <a:lstStyle/>
          <a:p>
            <a:pPr algn="ctr"/>
            <a:r>
              <a:rPr lang="en-US" sz="1300" dirty="0">
                <a:latin typeface="Cambria" panose="02040503050406030204" pitchFamily="18" charset="0"/>
                <a:ea typeface="Cambria" panose="02040503050406030204" pitchFamily="18" charset="0"/>
              </a:rPr>
              <a:t>4</a:t>
            </a:r>
          </a:p>
        </p:txBody>
      </p:sp>
      <p:sp>
        <p:nvSpPr>
          <p:cNvPr id="35" name="Text 7">
            <a:extLst>
              <a:ext uri="{FF2B5EF4-FFF2-40B4-BE49-F238E27FC236}">
                <a16:creationId xmlns:a16="http://schemas.microsoft.com/office/drawing/2014/main" id="{C275F2EC-1CF7-B37C-1D89-3CB5EA1AB4B5}"/>
              </a:ext>
            </a:extLst>
          </p:cNvPr>
          <p:cNvSpPr/>
          <p:nvPr/>
        </p:nvSpPr>
        <p:spPr>
          <a:xfrm>
            <a:off x="6925286" y="3172968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B33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Category Concentration</a:t>
            </a:r>
          </a:p>
        </p:txBody>
      </p:sp>
      <p:sp>
        <p:nvSpPr>
          <p:cNvPr id="37" name="Text 8">
            <a:extLst>
              <a:ext uri="{FF2B5EF4-FFF2-40B4-BE49-F238E27FC236}">
                <a16:creationId xmlns:a16="http://schemas.microsoft.com/office/drawing/2014/main" id="{F871D2CA-80AD-8123-1EB8-E54B8D439FE7}"/>
              </a:ext>
            </a:extLst>
          </p:cNvPr>
          <p:cNvSpPr/>
          <p:nvPr/>
        </p:nvSpPr>
        <p:spPr>
          <a:xfrm>
            <a:off x="6925286" y="3611880"/>
            <a:ext cx="4480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50" dirty="0"/>
              <a:t>Investigate item category concentrations in the top-performing items and see if the business is too dependent on them. Expand the scope of item availability for other items and improve their sales.</a:t>
            </a:r>
          </a:p>
        </p:txBody>
      </p:sp>
    </p:spTree>
    <p:extLst>
      <p:ext uri="{BB962C8B-B14F-4D97-AF65-F5344CB8AC3E}">
        <p14:creationId xmlns:p14="http://schemas.microsoft.com/office/powerpoint/2010/main" val="137697077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B335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645920" y="4389120"/>
            <a:ext cx="2011680" cy="2011680"/>
          </a:xfrm>
          <a:prstGeom prst="ellipse">
            <a:avLst/>
          </a:prstGeom>
          <a:ln w="17780">
            <a:solidFill>
              <a:srgbClr val="1C7293">
                <a:alpha val="6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-2212848" y="3822192"/>
            <a:ext cx="3145536" cy="3145536"/>
          </a:xfrm>
          <a:prstGeom prst="ellipse">
            <a:avLst/>
          </a:prstGeom>
          <a:ln w="17780">
            <a:solidFill>
              <a:srgbClr val="F2A541">
                <a:alpha val="6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-2779776" y="3255264"/>
            <a:ext cx="4279392" cy="4279392"/>
          </a:xfrm>
          <a:prstGeom prst="ellipse">
            <a:avLst/>
          </a:prstGeom>
          <a:ln w="17780">
            <a:solidFill>
              <a:srgbClr val="1C7293">
                <a:alpha val="6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-3346704" y="2688336"/>
            <a:ext cx="5413248" cy="5413248"/>
          </a:xfrm>
          <a:prstGeom prst="ellipse">
            <a:avLst/>
          </a:prstGeom>
          <a:ln w="17780">
            <a:solidFill>
              <a:srgbClr val="F2A541">
                <a:alpha val="6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822960" y="2651760"/>
            <a:ext cx="9601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822960" y="342900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Discussion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822960" y="4023360"/>
            <a:ext cx="1828800" cy="0"/>
          </a:xfrm>
          <a:prstGeom prst="line">
            <a:avLst/>
          </a:prstGeom>
          <a:noFill/>
          <a:ln w="31750">
            <a:solidFill>
              <a:srgbClr val="F2A54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822960" y="425196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FE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&amp; Business Intelligence Analytics Team  •  </a:t>
            </a:r>
            <a:r>
              <a:rPr lang="en-US" sz="1200" dirty="0" err="1">
                <a:solidFill>
                  <a:srgbClr val="BFE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DE_Annual</a:t>
            </a:r>
            <a:r>
              <a:rPr lang="en-US" sz="1200" dirty="0">
                <a:solidFill>
                  <a:srgbClr val="BFE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Sales Performance Report  •  FY2010–FY2017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</TotalTime>
  <Words>1690</Words>
  <Application>Microsoft Office PowerPoint</Application>
  <PresentationFormat>Widescreen</PresentationFormat>
  <Paragraphs>352</Paragraphs>
  <Slides>16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0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Victor Oduh</cp:lastModifiedBy>
  <cp:revision>3</cp:revision>
  <dcterms:created xsi:type="dcterms:W3CDTF">2026-08-20T22:27:24Z</dcterms:created>
  <dcterms:modified xsi:type="dcterms:W3CDTF">2026-09-09T20:50:23Z</dcterms:modified>
</cp:coreProperties>
</file>